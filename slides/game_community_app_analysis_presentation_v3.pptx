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4e28446b9f646da" /><Relationship Type="http://schemas.openxmlformats.org/officeDocument/2006/relationships/extended-properties" Target="/docProps/app.xml" Id="Rd1bc6e864b8c4f59" /><Relationship Type="http://schemas.openxmlformats.org/officeDocument/2006/relationships/officeDocument" Target="/ppt/presentation.xml" Id="Rdb8e4523bc36489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4e690991cb7444b"/>
  </p:sldMasterIdLst>
  <p:notesMasterIdLst>
    <p:notesMasterId xmlns:r="http://schemas.openxmlformats.org/officeDocument/2006/relationships" r:id="Ra17fa3bf2db4414a"/>
  </p:notesMasterIdLst>
  <p:sldIdLst>
    <p:sldId xmlns:r="http://schemas.openxmlformats.org/officeDocument/2006/relationships" id="256" r:id="Rd18d7c67203041e3"/>
    <p:sldId xmlns:r="http://schemas.openxmlformats.org/officeDocument/2006/relationships" id="257" r:id="R0245738713ee486b"/>
    <p:sldId xmlns:r="http://schemas.openxmlformats.org/officeDocument/2006/relationships" id="258" r:id="R1767c3a37ee94a51"/>
    <p:sldId xmlns:r="http://schemas.openxmlformats.org/officeDocument/2006/relationships" id="259" r:id="Ra8e13d7d6d54426e"/>
    <p:sldId xmlns:r="http://schemas.openxmlformats.org/officeDocument/2006/relationships" id="260" r:id="Raa040203d9d64cc9"/>
    <p:sldId xmlns:r="http://schemas.openxmlformats.org/officeDocument/2006/relationships" id="261" r:id="Rda982496296b403d"/>
    <p:sldId xmlns:r="http://schemas.openxmlformats.org/officeDocument/2006/relationships" id="262" r:id="R7d84ea55c4fd4a75"/>
    <p:sldId xmlns:r="http://schemas.openxmlformats.org/officeDocument/2006/relationships" id="263" r:id="Re9248c94294a454d"/>
    <p:sldId xmlns:r="http://schemas.openxmlformats.org/officeDocument/2006/relationships" id="264" r:id="R2bf7bbbe3628478f"/>
    <p:sldId xmlns:r="http://schemas.openxmlformats.org/officeDocument/2006/relationships" id="265" r:id="Rf2ca901c5f7749e7"/>
    <p:sldId xmlns:r="http://schemas.openxmlformats.org/officeDocument/2006/relationships" id="266" r:id="R28520e76db5d4f6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e690991cb7444b" /><Relationship Type="http://schemas.openxmlformats.org/officeDocument/2006/relationships/theme" Target="/ppt/theme/theme1.xml" Id="Ra5ebe77de10348f1" /><Relationship Type="http://schemas.openxmlformats.org/officeDocument/2006/relationships/notesMaster" Target="/ppt/notesMasters/notesMaster1.xml" Id="Ra17fa3bf2db4414a" /><Relationship Type="http://schemas.openxmlformats.org/officeDocument/2006/relationships/presProps" Target="/ppt/presProps.xml" Id="R816182508bd445b0" /><Relationship Type="http://schemas.openxmlformats.org/officeDocument/2006/relationships/viewProps" Target="/ppt/viewProps.xml" Id="R36107967edd24ac2" /><Relationship Type="http://schemas.openxmlformats.org/officeDocument/2006/relationships/tableStyles" Target="/ppt/tableStyles.xml" Id="Rb24b2ac208964558" /><Relationship Type="http://schemas.openxmlformats.org/officeDocument/2006/relationships/slide" Target="/ppt/slides/slide1.xml" Id="Rd18d7c67203041e3" /><Relationship Type="http://schemas.openxmlformats.org/officeDocument/2006/relationships/slide" Target="/ppt/slides/slide2.xml" Id="R0245738713ee486b" /><Relationship Type="http://schemas.openxmlformats.org/officeDocument/2006/relationships/slide" Target="/ppt/slides/slide3.xml" Id="R1767c3a37ee94a51" /><Relationship Type="http://schemas.openxmlformats.org/officeDocument/2006/relationships/slide" Target="/ppt/slides/slide4.xml" Id="Ra8e13d7d6d54426e" /><Relationship Type="http://schemas.openxmlformats.org/officeDocument/2006/relationships/slide" Target="/ppt/slides/slide5.xml" Id="Raa040203d9d64cc9" /><Relationship Type="http://schemas.openxmlformats.org/officeDocument/2006/relationships/slide" Target="/ppt/slides/slide6.xml" Id="Rda982496296b403d" /><Relationship Type="http://schemas.openxmlformats.org/officeDocument/2006/relationships/slide" Target="/ppt/slides/slide7.xml" Id="R7d84ea55c4fd4a75" /><Relationship Type="http://schemas.openxmlformats.org/officeDocument/2006/relationships/slide" Target="/ppt/slides/slide8.xml" Id="Re9248c94294a454d" /><Relationship Type="http://schemas.openxmlformats.org/officeDocument/2006/relationships/slide" Target="/ppt/slides/slide9.xml" Id="R2bf7bbbe3628478f" /><Relationship Type="http://schemas.openxmlformats.org/officeDocument/2006/relationships/slide" Target="/ppt/slides/slide10.xml" Id="Rf2ca901c5f7749e7" /><Relationship Type="http://schemas.openxmlformats.org/officeDocument/2006/relationships/slide" Target="/ppt/slides/slide11.xml" Id="R28520e76db5d4f6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dff9bbe164fa4a3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d532c8639974611" /><Relationship Type="http://schemas.openxmlformats.org/officeDocument/2006/relationships/notesMaster" Target="/ppt/notesMasters/notesMaster1.xml" Id="Rf940e80c6170480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d6454f0501144d4" /><Relationship Type="http://schemas.openxmlformats.org/officeDocument/2006/relationships/notesMaster" Target="/ppt/notesMasters/notesMaster1.xml" Id="R72a6cd24b10147d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7f264aec9bf4dd1" /><Relationship Type="http://schemas.openxmlformats.org/officeDocument/2006/relationships/notesMaster" Target="/ppt/notesMasters/notesMaster1.xml" Id="Rdfbbda095ccc48b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70c271c431d4635" /><Relationship Type="http://schemas.openxmlformats.org/officeDocument/2006/relationships/notesMaster" Target="/ppt/notesMasters/notesMaster1.xml" Id="R762a2184b3f34c5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78128f9a51848d6" /><Relationship Type="http://schemas.openxmlformats.org/officeDocument/2006/relationships/notesMaster" Target="/ppt/notesMasters/notesMaster1.xml" Id="R0f9022721b4745e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cf2b0bf913d4e4d" /><Relationship Type="http://schemas.openxmlformats.org/officeDocument/2006/relationships/notesMaster" Target="/ppt/notesMasters/notesMaster1.xml" Id="R1c3ecd9503934ea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4b517a6cd4b4da7" /><Relationship Type="http://schemas.openxmlformats.org/officeDocument/2006/relationships/notesMaster" Target="/ppt/notesMasters/notesMaster1.xml" Id="Rb5edc320f243426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6f76e413c114baf" /><Relationship Type="http://schemas.openxmlformats.org/officeDocument/2006/relationships/notesMaster" Target="/ppt/notesMasters/notesMaster1.xml" Id="R7f8768abe92d4f3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d50399b3dc14770" /><Relationship Type="http://schemas.openxmlformats.org/officeDocument/2006/relationships/notesMaster" Target="/ppt/notesMasters/notesMaster1.xml" Id="Rc603304a8109425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fbd491d5091491c" /><Relationship Type="http://schemas.openxmlformats.org/officeDocument/2006/relationships/notesMaster" Target="/ppt/notesMasters/notesMaster1.xml" Id="Rc7db6f9003694af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58394f17d05487a" /><Relationship Type="http://schemas.openxmlformats.org/officeDocument/2006/relationships/notesMaster" Target="/ppt/notesMasters/notesMaster1.xml" Id="R41aed044e44845a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5bd1dfc9c24b52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495265772bb14b45" /><Relationship Type="http://schemas.openxmlformats.org/officeDocument/2006/relationships/slideLayout" Target="/ppt/slideLayouts/slideLayout2.xml" Id="Rcbc754eeaf9749c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bc754eeaf9749c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62ee15041e946f5" /><Relationship Type="http://schemas.openxmlformats.org/officeDocument/2006/relationships/notesSlide" Target="/ppt/notesSlides/notesSlide1.xml" Id="R4fea25b09c7c43a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43dd571ccdc48d5" /><Relationship Type="http://schemas.openxmlformats.org/officeDocument/2006/relationships/notesSlide" Target="/ppt/notesSlides/notesSlide2.xml" Id="R8e25f71127fc44e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e7f0077a4044efa" /><Relationship Type="http://schemas.openxmlformats.org/officeDocument/2006/relationships/notesSlide" Target="/ppt/notesSlides/notesSlide3.xml" Id="R1e9d13d1eb7640b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f26df1e02b642a0" /><Relationship Type="http://schemas.openxmlformats.org/officeDocument/2006/relationships/image" Target="/ppt/media/image.png" Id="Ra1599fa54afc435c" /><Relationship Type="http://schemas.openxmlformats.org/officeDocument/2006/relationships/image" Target="/ppt/media/image2.png" Id="R7cbf07f3e3c042a5" /><Relationship Type="http://schemas.openxmlformats.org/officeDocument/2006/relationships/notesSlide" Target="/ppt/notesSlides/notesSlide4.xml" Id="R7c4c884b362140d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552c4d73e0e4fa2" /><Relationship Type="http://schemas.openxmlformats.org/officeDocument/2006/relationships/image" Target="/ppt/media/image3.png" Id="R4aa0a01f2e7d4e3b" /><Relationship Type="http://schemas.openxmlformats.org/officeDocument/2006/relationships/notesSlide" Target="/ppt/notesSlides/notesSlide5.xml" Id="R36c1cdbb0f844a2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1f7a6df0dd34c0d" /><Relationship Type="http://schemas.openxmlformats.org/officeDocument/2006/relationships/notesSlide" Target="/ppt/notesSlides/notesSlide6.xml" Id="Re065fa6df8474f8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3328ad687344be4" /><Relationship Type="http://schemas.openxmlformats.org/officeDocument/2006/relationships/notesSlide" Target="/ppt/notesSlides/notesSlide7.xml" Id="R93cdded5cffc444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a917e36c47245d9" /><Relationship Type="http://schemas.openxmlformats.org/officeDocument/2006/relationships/image" Target="/ppt/media/image4.png" Id="R65d52c0ee1374f32" /><Relationship Type="http://schemas.openxmlformats.org/officeDocument/2006/relationships/image" Target="/ppt/media/image5.png" Id="R75ca255c6e284229" /><Relationship Type="http://schemas.openxmlformats.org/officeDocument/2006/relationships/notesSlide" Target="/ppt/notesSlides/notesSlide8.xml" Id="Rfe5aa2a852ff4cc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282b4c5a6ff49fd" /><Relationship Type="http://schemas.openxmlformats.org/officeDocument/2006/relationships/image" Target="/ppt/media/image6.png" Id="Re0bc4fbc54c84841" /><Relationship Type="http://schemas.openxmlformats.org/officeDocument/2006/relationships/notesSlide" Target="/ppt/notesSlides/notesSlide9.xml" Id="R08e738ef1767471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711f6564e8f455f" /><Relationship Type="http://schemas.openxmlformats.org/officeDocument/2006/relationships/notesSlide" Target="/ppt/notesSlides/notesSlide10.xml" Id="Rd5fade6e413f4bb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a9b6c9f03844ddc" /><Relationship Type="http://schemas.openxmlformats.org/officeDocument/2006/relationships/notesSlide" Target="/ppt/notesSlides/notesSlide11.xml" Id="Rb8bdd7abee814d5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822AF13-12A0-499C-B9B4-A39F96C2C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C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D56C89-05AA-4E07-AF4D-9ECEA7B8B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0"/>
            <a:ext cx="3238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D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D519CC-3370-4F1E-B2EC-8D1A04052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4E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4655C7-97B3-498C-B2C1-62AA8E1CA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"/>
            <a:ext cx="3143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5BD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E5BD5C"/>
                </a:solidFill>
                <a:latin typeface="Microsoft YaHei"/>
                <a:ea typeface="Microsoft YaHei"/>
                <a:cs typeface="Microsoft YaHei"/>
              </a:rPr>
              <a:t>PUBLIC DATA OBSERVATION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EF80AA-1E2A-4107-B865-A1254B50D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19250"/>
            <a:ext cx="685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游戏社区 App 运营分析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8AD9AF-671A-46C2-A45B-FCA2B0E39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66950"/>
            <a:ext cx="533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3C6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3C65D"/>
                </a:solidFill>
                <a:latin typeface="Microsoft YaHei"/>
                <a:ea typeface="Microsoft YaHei"/>
                <a:cs typeface="Microsoft YaHei"/>
              </a:rPr>
              <a:t>以小黑盒与游民星空为例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218A15-C9E0-48DA-ACCC-E2A14FB3F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28950"/>
            <a:ext cx="5676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65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DF5EA0-F85F-4048-9601-DBED255A7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33750"/>
            <a:ext cx="6858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8EE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E8EEF2"/>
                </a:solidFill>
                <a:latin typeface="Microsoft YaHei"/>
                <a:ea typeface="Microsoft YaHei"/>
                <a:cs typeface="Microsoft YaHei"/>
              </a:rPr>
              <a:t>基于公开数据的用户反馈、搜索需求、下载趋势与版本节奏观察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9C8D9C-C53D-43B5-A684-C061E16C1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00600"/>
            <a:ext cx="723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AC6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BAC6CE"/>
                </a:solidFill>
                <a:latin typeface="Microsoft YaHei"/>
                <a:ea typeface="Microsoft YaHei"/>
                <a:cs typeface="Microsoft YaHei"/>
              </a:rPr>
              <a:t>个人学习型公开数据分析项目 / 尝试从用户视角转向运营视角进行观察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88972C-6A72-4BC4-BAC9-3524CD0CB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62600"/>
            <a:ext cx="990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542"/>
          </a:solidFill>
          <a:ln xmlns:a="http://schemas.openxmlformats.org/drawingml/2006/main" w="9525">
            <a:solidFill>
              <a:srgbClr val="45556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928B35-C557-4984-AE26-1EFA2D8D6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00700"/>
            <a:ext cx="990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E8EE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E8EEF2"/>
                </a:solidFill>
                <a:latin typeface="Microsoft YaHei"/>
                <a:ea typeface="Microsoft YaHei"/>
                <a:cs typeface="Microsoft YaHei"/>
              </a:rPr>
              <a:t>评论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15A94E-4695-4E6A-AE64-E2F596FD2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562600"/>
            <a:ext cx="990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542"/>
          </a:solidFill>
          <a:ln xmlns:a="http://schemas.openxmlformats.org/drawingml/2006/main" w="9525">
            <a:solidFill>
              <a:srgbClr val="45556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513812-9A2C-4E49-85F8-1AA9B90BB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600700"/>
            <a:ext cx="990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E8EE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E8EEF2"/>
                </a:solidFill>
                <a:latin typeface="Microsoft YaHei"/>
                <a:ea typeface="Microsoft YaHei"/>
                <a:cs typeface="Microsoft YaHei"/>
              </a:rPr>
              <a:t>关键词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3B5723-826B-4108-84DA-B7DD51B97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562600"/>
            <a:ext cx="990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542"/>
          </a:solidFill>
          <a:ln xmlns:a="http://schemas.openxmlformats.org/drawingml/2006/main" w="9525">
            <a:solidFill>
              <a:srgbClr val="45556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9CC897-1DB9-4B64-89A5-CF279A287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600700"/>
            <a:ext cx="990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E8EE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E8EEF2"/>
                </a:solidFill>
                <a:latin typeface="Microsoft YaHei"/>
                <a:ea typeface="Microsoft YaHei"/>
                <a:cs typeface="Microsoft YaHei"/>
              </a:rPr>
              <a:t>下载预估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1D3D49-B259-47E4-9835-2B62295D9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562600"/>
            <a:ext cx="990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542"/>
          </a:solidFill>
          <a:ln xmlns:a="http://schemas.openxmlformats.org/drawingml/2006/main" w="9525">
            <a:solidFill>
              <a:srgbClr val="45556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43C53A-4F0C-403F-8082-31847C7C8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600700"/>
            <a:ext cx="990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E8EE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E8EEF2"/>
                </a:solidFill>
                <a:latin typeface="Microsoft YaHei"/>
                <a:ea typeface="Microsoft YaHei"/>
                <a:cs typeface="Microsoft YaHei"/>
              </a:rPr>
              <a:t>版本日志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2D945B-0EEF-4ACA-B089-BC101CFA7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219700"/>
            <a:ext cx="1428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3C6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3C65D"/>
                </a:solidFill>
                <a:latin typeface="Microsoft YaHei"/>
                <a:ea typeface="Microsoft YaHei"/>
                <a:cs typeface="Microsoft YaHei"/>
              </a:rPr>
              <a:t>四源是观察链</a:t>
            </a:r>
          </a:p>
          <a:p xmlns:a="http://schemas.openxmlformats.org/drawingml/2006/main">
            <a:pPr algn="l">
              <a:defRPr sz="975" b="1">
                <a:solidFill>
                  <a:srgbClr val="F3C6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3C65D"/>
                </a:solidFill>
                <a:latin typeface="Microsoft YaHei"/>
                <a:ea typeface="Microsoft YaHei"/>
                <a:cs typeface="Microsoft YaHei"/>
              </a:rPr>
              <a:t>不是因果证明链</a:t>
            </a:r>
          </a:p>
        </p:txBody>
      </p:sp>
    </p:spTree>
    <p:extLst>
      <p:ext uri="{BB962C8B-B14F-4D97-AF65-F5344CB8AC3E}">
        <p14:creationId xmlns:p14="http://schemas.microsoft.com/office/powerpoint/2010/main" val="189982059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2C40436-10AB-4DF1-A973-8EA964375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PROJECT POSITIONING-marker">
            <a:extLst xmlns:a="http://schemas.openxmlformats.org/drawingml/2006/main">
              <a:ext uri="{FF2B5EF4-FFF2-40B4-BE49-F238E27FC236}">
                <a16:creationId xmlns:a16="http://schemas.microsoft.com/office/drawing/2014/main" id="{10DD976E-FB14-403D-9458-272F0A739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76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4E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PROJECT POSITIONING-label">
            <a:extLst xmlns:a="http://schemas.openxmlformats.org/drawingml/2006/main">
              <a:ext uri="{FF2B5EF4-FFF2-40B4-BE49-F238E27FC236}">
                <a16:creationId xmlns:a16="http://schemas.microsoft.com/office/drawing/2014/main" id="{AE5E15A0-9B15-4608-84CD-F0DF052E4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409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6371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0" b="1">
                <a:solidFill>
                  <a:srgbClr val="63717A"/>
                </a:solidFill>
                <a:latin typeface="Microsoft YaHei"/>
                <a:ea typeface="Microsoft YaHei"/>
                <a:cs typeface="Microsoft YaHei"/>
              </a:rPr>
              <a:t>PROJECT POSITIONING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51DDE0-A474-4519-86D0-36D017C75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923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C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11C24"/>
                </a:solidFill>
                <a:latin typeface="Microsoft YaHei"/>
                <a:ea typeface="Microsoft YaHei"/>
                <a:cs typeface="Microsoft YaHei"/>
              </a:rPr>
              <a:t>这个项目先把边界讲清楚，再谈观察。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B7289E-AA82-46DA-B85A-FA657D2D9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4270FE-F886-47A6-89ED-94E492416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438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8A8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63" b="0">
                <a:solidFill>
                  <a:srgbClr val="8A8174"/>
                </a:solidFill>
                <a:latin typeface="Microsoft YaHei"/>
                <a:ea typeface="Microsoft YaHei"/>
                <a:cs typeface="Microsoft YaHei"/>
              </a:rPr>
              <a:t>游戏社区 App 公开数据观察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28CA1B-AEB1-4D2D-8512-9E6307DD3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A8174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8A8174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B302FF-EF5C-416A-8B20-87387DA97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828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6371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63717A"/>
                </a:solidFill>
                <a:latin typeface="Microsoft YaHei"/>
                <a:ea typeface="Microsoft YaHei"/>
                <a:cs typeface="Microsoft YaHei"/>
              </a:rPr>
              <a:t>它是一份个人学习型、尝试性的公开数据观察项目。重点不是判断谁更好，而是练习如何把公开评论、关键词、下载预估和版本日志整理成可继续追问的问题线索。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F9C225-9B1A-4BD4-9C29-65D995BAE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0"/>
            <a:ext cx="31432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74E3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85A849-B217-459C-9CB8-20DFB39FC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0"/>
            <a:ext cx="381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4E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FFA7EE-70AA-4F72-A984-21F25F926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05075"/>
            <a:ext cx="2876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74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D74E37"/>
                </a:solidFill>
                <a:latin typeface="Microsoft YaHei"/>
                <a:ea typeface="Microsoft YaHei"/>
                <a:cs typeface="Microsoft YaHei"/>
              </a:rPr>
              <a:t>为什么做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C0FFCE-1641-448E-9518-7D2934BFA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62250"/>
            <a:ext cx="28765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C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111C24"/>
                </a:solidFill>
                <a:latin typeface="Microsoft YaHei"/>
                <a:ea typeface="Microsoft YaHei"/>
                <a:cs typeface="Microsoft YaHei"/>
              </a:rPr>
              <a:t>借助公开数据练习数据整理、问题拆解和报告表达；把原本偏用户体验的感受，尝试转成更结构化的运营观察。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E486DA-0246-4292-9C00-FF3B546A4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381250"/>
            <a:ext cx="31432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137C7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A3E673-A78F-4CEC-8AC3-88FB6DCDF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381250"/>
            <a:ext cx="381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7C7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0A6700-8109-4018-9B1E-695F61E4E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505075"/>
            <a:ext cx="2876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37C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37C71"/>
                </a:solidFill>
                <a:latin typeface="Microsoft YaHei"/>
                <a:ea typeface="Microsoft YaHei"/>
                <a:cs typeface="Microsoft YaHei"/>
              </a:rPr>
              <a:t>为什么选游戏社区 App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6702BE-814A-4FB0-B780-B77DD5647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762250"/>
            <a:ext cx="28765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C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111C24"/>
                </a:solidFill>
                <a:latin typeface="Microsoft YaHei"/>
                <a:ea typeface="Microsoft YaHei"/>
                <a:cs typeface="Microsoft YaHei"/>
              </a:rPr>
              <a:t>这类 App 同时连接内容、玩家关系、工具服务和平台生态，公开数据里能看到多种触点。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7166B3-479B-417F-8B68-E37853FE0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381250"/>
            <a:ext cx="31432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2C5E9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9A0AEA-C942-4A17-934D-42D5630AF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381250"/>
            <a:ext cx="381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E9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01FB83-2941-412F-BB29-C19289481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505075"/>
            <a:ext cx="2876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C5E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C5E91"/>
                </a:solidFill>
                <a:latin typeface="Microsoft YaHei"/>
                <a:ea typeface="Microsoft YaHei"/>
                <a:cs typeface="Microsoft YaHei"/>
              </a:rPr>
              <a:t>为什么选这两个 App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CB0CD0-A9A3-4D78-B506-48A2890C7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762250"/>
            <a:ext cx="28765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C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111C24"/>
                </a:solidFill>
                <a:latin typeface="Microsoft YaHei"/>
                <a:ea typeface="Microsoft YaHei"/>
                <a:cs typeface="Microsoft YaHei"/>
              </a:rPr>
              <a:t>小黑盒更适合结合社区、Steam 生态和工具服务观察；游民星空更适合结合资讯、攻略和版本动作观察。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38DC0D-B4D2-4510-AD9F-4B1E5983C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76750"/>
            <a:ext cx="102679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C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502961-92CF-48F0-9FA2-2EA2B8E22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05350"/>
            <a:ext cx="962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不做产品评比，不评价公司真实运营能力，不做增长归因，也不写成商业咨询式结论。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55AB39-4AEB-496F-9E67-18C39D1B7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38725"/>
            <a:ext cx="962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C8D1D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C8D1D7"/>
                </a:solidFill>
                <a:latin typeface="Microsoft YaHei"/>
                <a:ea typeface="Microsoft YaHei"/>
                <a:cs typeface="Microsoft YaHei"/>
              </a:rPr>
              <a:t>公开数据可以帮助发现线索；真实效果和处理优先级仍需内部数据、客服工单、站内行为和后续验证。</a:t>
            </a:r>
          </a:p>
        </p:txBody>
      </p:sp>
    </p:spTree>
    <p:extLst>
      <p:ext uri="{BB962C8B-B14F-4D97-AF65-F5344CB8AC3E}">
        <p14:creationId xmlns:p14="http://schemas.microsoft.com/office/powerpoint/2010/main" val="179172070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5025240-08BE-4BCF-8A72-A6DC1AA0E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DATA BOUNDARY-marker">
            <a:extLst xmlns:a="http://schemas.openxmlformats.org/drawingml/2006/main">
              <a:ext uri="{FF2B5EF4-FFF2-40B4-BE49-F238E27FC236}">
                <a16:creationId xmlns:a16="http://schemas.microsoft.com/office/drawing/2014/main" id="{BD7343DC-D871-495C-86BF-C122595BB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76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4E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DATA BOUNDARY-label">
            <a:extLst xmlns:a="http://schemas.openxmlformats.org/drawingml/2006/main">
              <a:ext uri="{FF2B5EF4-FFF2-40B4-BE49-F238E27FC236}">
                <a16:creationId xmlns:a16="http://schemas.microsoft.com/office/drawing/2014/main" id="{48836A42-A341-4F0A-B5F8-AE5CD5936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409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6371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0" b="1">
                <a:solidFill>
                  <a:srgbClr val="63717A"/>
                </a:solidFill>
                <a:latin typeface="Microsoft YaHei"/>
                <a:ea typeface="Microsoft YaHei"/>
                <a:cs typeface="Microsoft YaHei"/>
              </a:rPr>
              <a:t>DATA BOUNDARY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6DB34A-5CDD-4EF6-AB29-9AD06DF5F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923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C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11C24"/>
                </a:solidFill>
                <a:latin typeface="Microsoft YaHei"/>
                <a:ea typeface="Microsoft YaHei"/>
                <a:cs typeface="Microsoft YaHei"/>
              </a:rPr>
              <a:t>四类公开数据放在一起看，但不能串成因果链。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F9B7CE-5630-4184-9606-35EDED57B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F08BCA-C3F8-4B18-919C-F069EA79A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438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8A8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63" b="0">
                <a:solidFill>
                  <a:srgbClr val="8A8174"/>
                </a:solidFill>
                <a:latin typeface="Microsoft YaHei"/>
                <a:ea typeface="Microsoft YaHei"/>
                <a:cs typeface="Microsoft YaHei"/>
              </a:rPr>
              <a:t>游戏社区 App 公开数据观察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87C842-C7A6-479C-BABC-AABBE578E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A8174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8A8174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5EA0CD-BB55-417D-8356-859716393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8953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1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3717A"/>
                </a:solidFill>
                <a:latin typeface="Microsoft YaHei"/>
                <a:ea typeface="Microsoft YaHei"/>
                <a:cs typeface="Microsoft YaHei"/>
              </a:rPr>
              <a:t>本项目把四源分别当作用户反馈、搜索需求、结果背景和公开动作背景。它们互相补充观察角度，但不承担“动作导致结果”的证明任务。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6E982D-711B-4EB5-A295-D1DB5BA71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66950"/>
            <a:ext cx="240030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5DD"/>
          </a:solidFill>
          <a:ln xmlns:a="http://schemas.openxmlformats.org/drawingml/2006/main" w="9525">
            <a:solidFill>
              <a:srgbClr val="D74E3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88D020-5215-4B72-A8ED-8499F9937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74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74E37"/>
                </a:solidFill>
                <a:latin typeface="Microsoft YaHei"/>
                <a:ea typeface="Microsoft YaHei"/>
                <a:cs typeface="Microsoft YaHei"/>
              </a:rPr>
              <a:t>评论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2CEE36-D3D5-4EE8-B9D5-0F2508F15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0035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11C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111C24"/>
                </a:solidFill>
                <a:latin typeface="Microsoft YaHei"/>
                <a:ea typeface="Microsoft YaHei"/>
                <a:cs typeface="Microsoft YaHei"/>
              </a:rPr>
              <a:t>被动反馈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7FC80F-E0BD-4073-BEC6-BC7C6C398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24200"/>
            <a:ext cx="1981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11C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111C24"/>
                </a:solidFill>
                <a:latin typeface="Microsoft YaHei"/>
                <a:ea typeface="Microsoft YaHei"/>
                <a:cs typeface="Microsoft YaHei"/>
              </a:rPr>
              <a:t>公开评论中出现了哪些体验问题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2C9881-6902-4D7C-B137-48E7CE50C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19500"/>
            <a:ext cx="1981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371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 b="0">
                <a:solidFill>
                  <a:srgbClr val="63717A"/>
                </a:solidFill>
                <a:latin typeface="Microsoft YaHei"/>
                <a:ea typeface="Microsoft YaHei"/>
                <a:cs typeface="Microsoft YaHei"/>
              </a:rPr>
              <a:t>不代表全体用户，也不代表真实发生率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0A1644-9B14-4170-8288-138D30B98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266950"/>
            <a:ext cx="240030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A"/>
          </a:solidFill>
          <a:ln xmlns:a="http://schemas.openxmlformats.org/drawingml/2006/main" w="9525">
            <a:solidFill>
              <a:srgbClr val="137C7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220387-8B04-480C-86E7-E9768E692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47650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7C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37C71"/>
                </a:solidFill>
                <a:latin typeface="Microsoft YaHei"/>
                <a:ea typeface="Microsoft YaHei"/>
                <a:cs typeface="Microsoft YaHei"/>
              </a:rPr>
              <a:t>关键词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5A8702-85D8-4380-9D43-040C50DD8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80035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11C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111C24"/>
                </a:solidFill>
                <a:latin typeface="Microsoft YaHei"/>
                <a:ea typeface="Microsoft YaHei"/>
                <a:cs typeface="Microsoft YaHei"/>
              </a:rPr>
              <a:t>主动需求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0EB2F2-0234-423F-A5F2-A1F49525D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124200"/>
            <a:ext cx="1981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11C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111C24"/>
                </a:solidFill>
                <a:latin typeface="Microsoft YaHei"/>
                <a:ea typeface="Microsoft YaHei"/>
                <a:cs typeface="Microsoft YaHei"/>
              </a:rPr>
              <a:t>App Store 搜索中出现了哪些内容、社区、工具或平台线索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9CD5C0-F534-4BF4-A570-728E15B35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619500"/>
            <a:ext cx="1981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371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 b="0">
                <a:solidFill>
                  <a:srgbClr val="63717A"/>
                </a:solidFill>
                <a:latin typeface="Microsoft YaHei"/>
                <a:ea typeface="Microsoft YaHei"/>
                <a:cs typeface="Microsoft YaHei"/>
              </a:rPr>
              <a:t>不代表真实流量、真实用户规模或投放效果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BDEAA0-D8C4-4EC5-A862-1ECC0F211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266950"/>
            <a:ext cx="240030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F5"/>
          </a:solidFill>
          <a:ln xmlns:a="http://schemas.openxmlformats.org/drawingml/2006/main" w="9525">
            <a:solidFill>
              <a:srgbClr val="2C5E9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0DD0D8-13FA-4F6A-BF15-5D786BC5D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47650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C5E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C5E91"/>
                </a:solidFill>
                <a:latin typeface="Microsoft YaHei"/>
                <a:ea typeface="Microsoft YaHei"/>
                <a:cs typeface="Microsoft YaHei"/>
              </a:rPr>
              <a:t>下载预估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83A3D4-90AF-4B84-9C12-2C0B2FB28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0035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11C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111C24"/>
                </a:solidFill>
                <a:latin typeface="Microsoft YaHei"/>
                <a:ea typeface="Microsoft YaHei"/>
                <a:cs typeface="Microsoft YaHei"/>
              </a:rPr>
              <a:t>结果背景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3F79BD-24C1-4A4F-A81B-37C252C50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124200"/>
            <a:ext cx="1981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11C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111C24"/>
                </a:solidFill>
                <a:latin typeface="Microsoft YaHei"/>
                <a:ea typeface="Microsoft YaHei"/>
                <a:cs typeface="Microsoft YaHei"/>
              </a:rPr>
              <a:t>七麦 iPhone 新增下载预估如何波动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A87DE8-4BAF-41CA-B230-BA76E76A3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619500"/>
            <a:ext cx="1981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371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 b="0">
                <a:solidFill>
                  <a:srgbClr val="63717A"/>
                </a:solidFill>
                <a:latin typeface="Microsoft YaHei"/>
                <a:ea typeface="Microsoft YaHei"/>
                <a:cs typeface="Microsoft YaHei"/>
              </a:rPr>
              <a:t>不代表官方真实下载或真实新增用户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9D60EE-43D7-4549-95D6-4ACD2835D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266950"/>
            <a:ext cx="240030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ACE"/>
          </a:solidFill>
          <a:ln xmlns:a="http://schemas.openxmlformats.org/drawingml/2006/main" w="9525">
            <a:solidFill>
              <a:srgbClr val="B8860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8E5FE6-323A-4964-971F-076F17F19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47650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886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B8860B"/>
                </a:solidFill>
                <a:latin typeface="Microsoft YaHei"/>
                <a:ea typeface="Microsoft YaHei"/>
                <a:cs typeface="Microsoft YaHei"/>
              </a:rPr>
              <a:t>版本日志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81A6F81-035B-4F21-8009-BAD503CD7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80035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11C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111C24"/>
                </a:solidFill>
                <a:latin typeface="Microsoft YaHei"/>
                <a:ea typeface="Microsoft YaHei"/>
                <a:cs typeface="Microsoft YaHei"/>
              </a:rPr>
              <a:t>动作背景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FFE76FB-C034-49E5-9E6E-0FF7672BB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124200"/>
            <a:ext cx="1981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11C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111C24"/>
                </a:solidFill>
                <a:latin typeface="Microsoft YaHei"/>
                <a:ea typeface="Microsoft YaHei"/>
                <a:cs typeface="Microsoft YaHei"/>
              </a:rPr>
              <a:t>公开版本日志里出现了什么更新文本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1496F6A-747E-42FA-B0E1-1D5C9B11C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619500"/>
            <a:ext cx="1981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371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 b="0">
                <a:solidFill>
                  <a:srgbClr val="63717A"/>
                </a:solidFill>
                <a:latin typeface="Microsoft YaHei"/>
                <a:ea typeface="Microsoft YaHei"/>
                <a:cs typeface="Microsoft YaHei"/>
              </a:rPr>
              <a:t>不代表真实效果，也不能证明问题已解决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93D6994-D29D-4126-81DC-A8B5B8E4F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686300"/>
            <a:ext cx="90868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C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B4A6F9F-23FC-4F83-8092-9F6536050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905375"/>
            <a:ext cx="8515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安全读法：公开数据下呈现出 / 可作为观察线索 / 值得后续排查 / 暂不能判断因果关系</a:t>
            </a:r>
          </a:p>
        </p:txBody>
      </p:sp>
    </p:spTree>
    <p:extLst>
      <p:ext uri="{BB962C8B-B14F-4D97-AF65-F5344CB8AC3E}">
        <p14:creationId xmlns:p14="http://schemas.microsoft.com/office/powerpoint/2010/main" val="102359764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26DC53D-A1F9-4353-A40A-5DEE76994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USER FEEDBACK-marker">
            <a:extLst xmlns:a="http://schemas.openxmlformats.org/drawingml/2006/main">
              <a:ext uri="{FF2B5EF4-FFF2-40B4-BE49-F238E27FC236}">
                <a16:creationId xmlns:a16="http://schemas.microsoft.com/office/drawing/2014/main" id="{CCAEAC98-BFAC-41DE-9337-D13204D0D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76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4E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USER FEEDBACK-label">
            <a:extLst xmlns:a="http://schemas.openxmlformats.org/drawingml/2006/main">
              <a:ext uri="{FF2B5EF4-FFF2-40B4-BE49-F238E27FC236}">
                <a16:creationId xmlns:a16="http://schemas.microsoft.com/office/drawing/2014/main" id="{0EBE5B3E-DE51-4AAA-B2F9-9450B6C4F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409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6371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0" b="1">
                <a:solidFill>
                  <a:srgbClr val="63717A"/>
                </a:solidFill>
                <a:latin typeface="Microsoft YaHei"/>
                <a:ea typeface="Microsoft YaHei"/>
                <a:cs typeface="Microsoft YaHei"/>
              </a:rPr>
              <a:t>USER FEEDBACK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A94B01-727C-4FBF-8E86-3F326750F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990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C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11C24"/>
                </a:solidFill>
                <a:latin typeface="Microsoft YaHei"/>
                <a:ea typeface="Microsoft YaHei"/>
                <a:cs typeface="Microsoft YaHei"/>
              </a:rPr>
              <a:t>公开评论能帮忙整理问题入口，不能代表真实发生率。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A9BA21-CF52-4602-BEEC-3B12602C4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438487-9DDA-4FD2-B6D7-AACEB3EF4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438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8A8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63" b="0">
                <a:solidFill>
                  <a:srgbClr val="8A8174"/>
                </a:solidFill>
                <a:latin typeface="Microsoft YaHei"/>
                <a:ea typeface="Microsoft YaHei"/>
                <a:cs typeface="Microsoft YaHei"/>
              </a:rPr>
              <a:t>游戏社区 App 公开数据观察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50E02B-BE69-428E-9487-5A1D930AE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A8174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8A8174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DE4780-4183-4EB9-8C04-A1A8ADC05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85900"/>
            <a:ext cx="51435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DDD3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599fa54afc435c"/>
          <a:stretch xmlns:a="http://schemas.openxmlformats.org/drawingml/2006/main"/>
        </p:blipFill>
        <p:spPr>
          <a:xfrm xmlns:a="http://schemas.openxmlformats.org/drawingml/2006/main">
            <a:off x="628650" y="1586442"/>
            <a:ext cx="4953000" cy="2751667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4A08B8-C1E8-4C3C-9FCD-5EEE8A92D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447800"/>
            <a:ext cx="40957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DDD3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bf07f3e3c042a5"/>
          <a:stretch xmlns:a="http://schemas.openxmlformats.org/drawingml/2006/main"/>
        </p:blipFill>
        <p:spPr>
          <a:xfrm xmlns:a="http://schemas.openxmlformats.org/drawingml/2006/main">
            <a:off x="5905500" y="1604963"/>
            <a:ext cx="3905250" cy="2733675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0FF581-CBCD-424D-B219-5B5131AEB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1581150"/>
            <a:ext cx="16954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9D1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F13ED7-0E53-4EDF-B246-AFC437831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1581150"/>
            <a:ext cx="381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4E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1F4911-764A-4F03-ABF2-FC7A5B17C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1733550"/>
            <a:ext cx="13525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11C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111C24"/>
                </a:solidFill>
                <a:latin typeface="Microsoft YaHei"/>
                <a:ea typeface="Microsoft YaHei"/>
                <a:cs typeface="Microsoft YaHei"/>
              </a:rPr>
              <a:t>评论样本只用于把公开表达分层：正向、中性、负向。不适合写成整体满意度或口碑高低。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9B6E89-C40C-466F-9F6A-2F40056DC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181350"/>
            <a:ext cx="16954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9D1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FEEF99-9B98-4963-8198-A8651AB85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181350"/>
            <a:ext cx="381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7C7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AEB413-A272-40BC-AFAF-F365ABDCE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333750"/>
            <a:ext cx="13525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11C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111C24"/>
                </a:solidFill>
                <a:latin typeface="Microsoft YaHei"/>
                <a:ea typeface="Microsoft YaHei"/>
                <a:cs typeface="Microsoft YaHei"/>
              </a:rPr>
              <a:t>负向评论中可看到社区治理、功能体验、客服反馈、交易库存、稳定性等问题线索，更适合进入后续问题池。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8903E4-A9EF-4C6A-BB32-C8E244CA3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29200"/>
            <a:ext cx="9067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9D1C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C6C2D0-38CD-4254-BBFA-B21E57D49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72075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111C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23" b="0">
                <a:solidFill>
                  <a:srgbClr val="111C24"/>
                </a:solidFill>
                <a:latin typeface="Microsoft YaHei"/>
                <a:ea typeface="Microsoft YaHei"/>
                <a:cs typeface="Microsoft YaHei"/>
              </a:rPr>
              <a:t>使用边界：一条评论可能命中多个主题；图表只能说明公开样本中出现过相关表达，不能推出全部用户观点或真实问题规模。</a:t>
            </a:r>
          </a:p>
        </p:txBody>
      </p:sp>
    </p:spTree>
    <p:extLst>
      <p:ext uri="{BB962C8B-B14F-4D97-AF65-F5344CB8AC3E}">
        <p14:creationId xmlns:p14="http://schemas.microsoft.com/office/powerpoint/2010/main" val="73084389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2284D8D-2895-4E6E-82DA-C3B4BD931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KEYWORD DEMAND-marker">
            <a:extLst xmlns:a="http://schemas.openxmlformats.org/drawingml/2006/main">
              <a:ext uri="{FF2B5EF4-FFF2-40B4-BE49-F238E27FC236}">
                <a16:creationId xmlns:a16="http://schemas.microsoft.com/office/drawing/2014/main" id="{7932C651-9108-42A4-B13A-94C2E5B1E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76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4E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KEYWORD DEMAND-label">
            <a:extLst xmlns:a="http://schemas.openxmlformats.org/drawingml/2006/main">
              <a:ext uri="{FF2B5EF4-FFF2-40B4-BE49-F238E27FC236}">
                <a16:creationId xmlns:a16="http://schemas.microsoft.com/office/drawing/2014/main" id="{E2C283F0-067A-4E59-A283-2BB58A048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409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6371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0" b="1">
                <a:solidFill>
                  <a:srgbClr val="63717A"/>
                </a:solidFill>
                <a:latin typeface="Microsoft YaHei"/>
                <a:ea typeface="Microsoft YaHei"/>
                <a:cs typeface="Microsoft YaHei"/>
              </a:rPr>
              <a:t>KEYWORD DEMAND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23D53E-2AE2-4670-A383-0669B2734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287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C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11C24"/>
                </a:solidFill>
                <a:latin typeface="Microsoft YaHei"/>
                <a:ea typeface="Microsoft YaHei"/>
                <a:cs typeface="Microsoft YaHei"/>
              </a:rPr>
              <a:t>玩家搜索的不是抽象社区，而是具体内容和使用场景。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77A311-27A1-4856-B2E9-CF8427EBB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046E31-FEC5-44E8-BE1B-CC12A0B82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438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8A8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63" b="0">
                <a:solidFill>
                  <a:srgbClr val="8A8174"/>
                </a:solidFill>
                <a:latin typeface="Microsoft YaHei"/>
                <a:ea typeface="Microsoft YaHei"/>
                <a:cs typeface="Microsoft YaHei"/>
              </a:rPr>
              <a:t>游戏社区 App 公开数据观察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BF00EA-9A33-4F96-8033-979EBD104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A8174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8A8174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1B6528-C596-4925-9995-5EF5038B4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43050"/>
            <a:ext cx="7191375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DDD3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a0a01f2e7d4e3b"/>
          <a:stretch xmlns:a="http://schemas.openxmlformats.org/drawingml/2006/main"/>
        </p:blipFill>
        <p:spPr>
          <a:xfrm xmlns:a="http://schemas.openxmlformats.org/drawingml/2006/main">
            <a:off x="1185863" y="1638300"/>
            <a:ext cx="6000750" cy="40005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40DC60-34AB-405F-B661-5F4DEF354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76400"/>
            <a:ext cx="2857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9D1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B44F65-B118-464E-A230-5FF64FD18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76400"/>
            <a:ext cx="381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7C7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B158DC-0F6B-48E0-B0F5-3CD59BA50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828800"/>
            <a:ext cx="2514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C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11C24"/>
                </a:solidFill>
                <a:latin typeface="Microsoft YaHei"/>
                <a:ea typeface="Microsoft YaHei"/>
                <a:cs typeface="Microsoft YaHei"/>
              </a:rPr>
              <a:t>关键词在本项目中只用于理解公开搜索场景下的需求入口。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07E49A-666C-4EA7-AAE0-B0171B5B6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670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4E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CACA94-4D8D-490C-81F7-67465C56C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6193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371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63717A"/>
                </a:solidFill>
                <a:latin typeface="Microsoft YaHei"/>
                <a:ea typeface="Microsoft YaHei"/>
                <a:cs typeface="Microsoft YaHei"/>
              </a:rPr>
              <a:t>热门游戏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4857A2-0C88-43A4-97C0-401B096F0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76550"/>
            <a:ext cx="30289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11C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111C24"/>
                </a:solidFill>
                <a:latin typeface="Microsoft YaHei"/>
                <a:ea typeface="Microsoft YaHei"/>
                <a:cs typeface="Microsoft YaHei"/>
              </a:rPr>
              <a:t>如具体游戏名、IP 和话题，提示用户常围绕某款游戏进入搜索。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3E41F0-E548-4128-9353-AD3B195FE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3909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6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478305-E90A-416C-86E9-37A5FA51C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3432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371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63717A"/>
                </a:solidFill>
                <a:latin typeface="Microsoft YaHei"/>
                <a:ea typeface="Microsoft YaHei"/>
                <a:cs typeface="Microsoft YaHei"/>
              </a:rPr>
              <a:t>攻略资讯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4D83DE-6DA7-4043-84EE-69AA20D58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00450"/>
            <a:ext cx="30289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11C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111C24"/>
                </a:solidFill>
                <a:latin typeface="Microsoft YaHei"/>
                <a:ea typeface="Microsoft YaHei"/>
                <a:cs typeface="Microsoft YaHei"/>
              </a:rPr>
              <a:t>新闻、攻略、评测等词，提示信息获取和内容消费需求。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4DBC95-72B9-472B-9F42-7CAD9130D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1148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E9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D0F076-DAA4-4DF1-9A13-04FDB9F50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0671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371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63717A"/>
                </a:solidFill>
                <a:latin typeface="Microsoft YaHei"/>
                <a:ea typeface="Microsoft YaHei"/>
                <a:cs typeface="Microsoft YaHei"/>
              </a:rPr>
              <a:t>工具平台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78437C-805E-4E43-8D78-58922BF53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324350"/>
            <a:ext cx="30289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11C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111C24"/>
                </a:solidFill>
                <a:latin typeface="Microsoft YaHei"/>
                <a:ea typeface="Microsoft YaHei"/>
                <a:cs typeface="Microsoft YaHei"/>
              </a:rPr>
              <a:t>游戏库、战绩查询、Steam、助手等词，提示工具入口和平台连接。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DD4A9C-C147-4D96-A91E-0F43E16A3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838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7C7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07E7CF-ED5A-4CB7-9F8D-7F4F45A99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7910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371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63717A"/>
                </a:solidFill>
                <a:latin typeface="Microsoft YaHei"/>
                <a:ea typeface="Microsoft YaHei"/>
                <a:cs typeface="Microsoft YaHei"/>
              </a:rPr>
              <a:t>社区入口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8EA1FD-B052-4535-8AF7-A117B3143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048250"/>
            <a:ext cx="30289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11C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111C24"/>
                </a:solidFill>
                <a:latin typeface="Microsoft YaHei"/>
                <a:ea typeface="Microsoft YaHei"/>
                <a:cs typeface="Microsoft YaHei"/>
              </a:rPr>
              <a:t>社区、论坛、玩家社区等词，提示交流空间也有搜索心智。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DE43435-B708-4BD1-A015-412A77086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581650"/>
            <a:ext cx="3000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6371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63717A"/>
                </a:solidFill>
                <a:latin typeface="Microsoft YaHei"/>
                <a:ea typeface="Microsoft YaHei"/>
                <a:cs typeface="Microsoft YaHei"/>
              </a:rPr>
              <a:t>不是 ASO 投放分析，也不直接给出动作清单；只说明哪些方向值得继续观察。</a:t>
            </a:r>
          </a:p>
        </p:txBody>
      </p:sp>
    </p:spTree>
    <p:extLst>
      <p:ext uri="{BB962C8B-B14F-4D97-AF65-F5344CB8AC3E}">
        <p14:creationId xmlns:p14="http://schemas.microsoft.com/office/powerpoint/2010/main" val="10689744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2CB85B1-F3D9-4439-BA06-FCD214DD3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COMMUNITY GOVERNANCE-marker">
            <a:extLst xmlns:a="http://schemas.openxmlformats.org/drawingml/2006/main">
              <a:ext uri="{FF2B5EF4-FFF2-40B4-BE49-F238E27FC236}">
                <a16:creationId xmlns:a16="http://schemas.microsoft.com/office/drawing/2014/main" id="{56488CEC-FF83-4F36-93D1-56CA4551A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76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4E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COMMUNITY GOVERNANCE-label">
            <a:extLst xmlns:a="http://schemas.openxmlformats.org/drawingml/2006/main">
              <a:ext uri="{FF2B5EF4-FFF2-40B4-BE49-F238E27FC236}">
                <a16:creationId xmlns:a16="http://schemas.microsoft.com/office/drawing/2014/main" id="{264EB39B-5AF6-4986-9C50-D0FCF9168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409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6371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0" b="1">
                <a:solidFill>
                  <a:srgbClr val="63717A"/>
                </a:solidFill>
                <a:latin typeface="Microsoft YaHei"/>
                <a:ea typeface="Microsoft YaHei"/>
                <a:cs typeface="Microsoft YaHei"/>
              </a:rPr>
              <a:t>COMMUNITY GOVERNANCE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B26DAC-2D5F-428E-B7B5-696329BFD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287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C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11C24"/>
                </a:solidFill>
                <a:latin typeface="Microsoft YaHei"/>
                <a:ea typeface="Microsoft YaHei"/>
                <a:cs typeface="Microsoft YaHei"/>
              </a:rPr>
              <a:t>社区氛围与治理值得单独看，但证据强度要克制。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7E12A7-18EC-4F5C-9686-0BC6DA059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151376-F67E-4F96-B00E-B9AD0D771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438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8A8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63" b="0">
                <a:solidFill>
                  <a:srgbClr val="8A8174"/>
                </a:solidFill>
                <a:latin typeface="Microsoft YaHei"/>
                <a:ea typeface="Microsoft YaHei"/>
                <a:cs typeface="Microsoft YaHei"/>
              </a:rPr>
              <a:t>游戏社区 App 公开数据观察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0AEBA7-3EDB-4948-84BE-CC4F1C51E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A8174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8A8174"/>
                </a:solidFill>
                <a:latin typeface="Georgia"/>
                <a:ea typeface="Georgia"/>
                <a:cs typeface="Georgia"/>
              </a:rPr>
              <a:t>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AF607C-7B28-421D-A122-D374C3F13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962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1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3717A"/>
                </a:solidFill>
                <a:latin typeface="Microsoft YaHei"/>
                <a:ea typeface="Microsoft YaHei"/>
                <a:cs typeface="Microsoft YaHei"/>
              </a:rPr>
              <a:t>评论侧和关键词侧能提供两个入口：一个来自被动反馈，一个来自主动搜索。它们足以提示治理议题值得观察，但不足以判断真实社区状态。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679E50-E495-4B47-8E67-5282B490E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57450"/>
            <a:ext cx="3143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74E3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054613-C0DA-4AF6-A189-681AEA759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57450"/>
            <a:ext cx="381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4E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2B3D6D-1304-4FB4-BF91-4607B4523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81275"/>
            <a:ext cx="2876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74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D74E37"/>
                </a:solidFill>
                <a:latin typeface="Microsoft YaHei"/>
                <a:ea typeface="Microsoft YaHei"/>
                <a:cs typeface="Microsoft YaHei"/>
              </a:rPr>
              <a:t>评论侧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885E2D-A5B6-4B73-A27A-3FDCD8D6A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38450"/>
            <a:ext cx="28765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C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111C24"/>
                </a:solidFill>
                <a:latin typeface="Microsoft YaHei"/>
                <a:ea typeface="Microsoft YaHei"/>
                <a:cs typeface="Microsoft YaHei"/>
              </a:rPr>
              <a:t>可观察到举报、封禁、帖子秩序、处理反馈等表达。小黑盒负向评论中，“社区氛围与治理”命中 54 条，占 338 条负向公开评论的 15.98%。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82F23D-6BFF-4269-99AB-5E24A1016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457450"/>
            <a:ext cx="3143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137C7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6DD12D-16F9-447C-B863-86E0E5465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457450"/>
            <a:ext cx="381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7C7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20BE1B-2C59-40F3-B95D-49518D3CF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581275"/>
            <a:ext cx="2876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37C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37C71"/>
                </a:solidFill>
                <a:latin typeface="Microsoft YaHei"/>
                <a:ea typeface="Microsoft YaHei"/>
                <a:cs typeface="Microsoft YaHei"/>
              </a:rPr>
              <a:t>关键词侧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2E0060-10A7-4E8F-BC65-99323F4EF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838450"/>
            <a:ext cx="28765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C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111C24"/>
                </a:solidFill>
                <a:latin typeface="Microsoft YaHei"/>
                <a:ea typeface="Microsoft YaHei"/>
                <a:cs typeface="Microsoft YaHei"/>
              </a:rPr>
              <a:t>可观察到“游戏社区”“游戏论坛”“玩家社区”等搜索心智。该类词说明交流空间本身也是玩家搜索入口之一。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632856-DCF5-4B04-9B1B-6DCB3C441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57450"/>
            <a:ext cx="3143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2C5E9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450B51-92C7-4A6E-AC96-CA83C53F2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57450"/>
            <a:ext cx="381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E9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6906A3-C813-43AD-A11E-194F51336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581275"/>
            <a:ext cx="2876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C5E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C5E91"/>
                </a:solidFill>
                <a:latin typeface="Microsoft YaHei"/>
                <a:ea typeface="Microsoft YaHei"/>
                <a:cs typeface="Microsoft YaHei"/>
              </a:rPr>
              <a:t>边界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499A51-CDC7-4EEB-9BF6-58734EC85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838450"/>
            <a:ext cx="28765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C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111C24"/>
                </a:solidFill>
                <a:latin typeface="Microsoft YaHei"/>
                <a:ea typeface="Microsoft YaHei"/>
                <a:cs typeface="Microsoft YaHei"/>
              </a:rPr>
              <a:t>公开数据不能代表整体社区氛围，也不能判断治理动作是否有效；后续仍需举报、审核、申诉、互动质量等内部数据。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319184-A57B-4EE1-BBDB-D4141B23D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343400"/>
            <a:ext cx="7620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5A3ACF-61E9-434D-A753-56D9B427E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210050"/>
            <a:ext cx="1409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C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4FD56B-A229-4BA6-8FF0-3D9CE117E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286250"/>
            <a:ext cx="1409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值得继续观察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9C2A2E-FB9B-43E0-93A1-1B514AF28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029200"/>
            <a:ext cx="9372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C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C24"/>
                </a:solidFill>
                <a:latin typeface="Microsoft YaHei"/>
                <a:ea typeface="Microsoft YaHei"/>
                <a:cs typeface="Microsoft YaHei"/>
              </a:rPr>
              <a:t>更合适的表达是：治理议题在公开评论和搜索词中均有线索；不合适的表达是：据此评价真实治理效果或社区质量。</a:t>
            </a:r>
          </a:p>
        </p:txBody>
      </p:sp>
    </p:spTree>
    <p:extLst>
      <p:ext uri="{BB962C8B-B14F-4D97-AF65-F5344CB8AC3E}">
        <p14:creationId xmlns:p14="http://schemas.microsoft.com/office/powerpoint/2010/main" val="183862310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ECDD9AC-3F99-4EFA-8D78-BD92459E3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TOOL EXPERIENCE-marker">
            <a:extLst xmlns:a="http://schemas.openxmlformats.org/drawingml/2006/main">
              <a:ext uri="{FF2B5EF4-FFF2-40B4-BE49-F238E27FC236}">
                <a16:creationId xmlns:a16="http://schemas.microsoft.com/office/drawing/2014/main" id="{7F43DA97-73B1-40FC-98BA-7BCD5267B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76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4E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TOOL EXPERIENCE-label">
            <a:extLst xmlns:a="http://schemas.openxmlformats.org/drawingml/2006/main">
              <a:ext uri="{FF2B5EF4-FFF2-40B4-BE49-F238E27FC236}">
                <a16:creationId xmlns:a16="http://schemas.microsoft.com/office/drawing/2014/main" id="{AD949457-938A-4327-81CC-0DB59E685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409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6371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0" b="1">
                <a:solidFill>
                  <a:srgbClr val="63717A"/>
                </a:solidFill>
                <a:latin typeface="Microsoft YaHei"/>
                <a:ea typeface="Microsoft YaHei"/>
                <a:cs typeface="Microsoft YaHei"/>
              </a:rPr>
              <a:t>TOOL EXPERIENCE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D8E76C-410A-4317-926A-DDD24000A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933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C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11C24"/>
                </a:solidFill>
                <a:latin typeface="Microsoft YaHei"/>
                <a:ea typeface="Microsoft YaHei"/>
                <a:cs typeface="Microsoft YaHei"/>
              </a:rPr>
              <a:t>工具服务把观察从内容入口延伸到产品协同。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18D26E-50D9-4199-AA5D-64C622DFF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B67755-2EB3-4FB6-B18A-635EEC978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438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8A8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63" b="0">
                <a:solidFill>
                  <a:srgbClr val="8A8174"/>
                </a:solidFill>
                <a:latin typeface="Microsoft YaHei"/>
                <a:ea typeface="Microsoft YaHei"/>
                <a:cs typeface="Microsoft YaHei"/>
              </a:rPr>
              <a:t>游戏社区 App 公开数据观察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DCA3F8-3A3F-4E32-B4AE-9A26F7649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A8174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8A8174"/>
                </a:solidFill>
                <a:latin typeface="Georgia"/>
                <a:ea typeface="Georgia"/>
                <a:cs typeface="Georgia"/>
              </a:rPr>
              <a:t>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35233A-629E-4AB5-BA2D-15CCE6E7E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9144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1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3717A"/>
                </a:solidFill>
                <a:latin typeface="Microsoft YaHei"/>
                <a:ea typeface="Microsoft YaHei"/>
                <a:cs typeface="Microsoft YaHei"/>
              </a:rPr>
              <a:t>游戏社区 App 不只是内容阅读或讨论社区。登录、绑定、战绩查询、库存展示、加速器、加载稳定性等问题，会影响用户对整体体验的判断。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C02D7B-C97F-4664-A512-A5F233EFD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52700"/>
            <a:ext cx="20383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B8860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FF7F34-F1B1-46B2-A674-6D5FBC489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52700"/>
            <a:ext cx="2038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6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581037-CBCC-4145-95BD-86653E9B9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76225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86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8860B"/>
                </a:solidFill>
                <a:latin typeface="Microsoft YaHei"/>
                <a:ea typeface="Microsoft YaHei"/>
                <a:cs typeface="Microsoft YaHei"/>
              </a:rPr>
              <a:t>内容入口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FB1B21-DBDF-4E3C-9FF8-FC07C3D63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105150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111C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111C24"/>
                </a:solidFill>
                <a:latin typeface="Microsoft YaHei"/>
                <a:ea typeface="Microsoft YaHei"/>
                <a:cs typeface="Microsoft YaHei"/>
              </a:rPr>
              <a:t>资讯 / 攻略 / 评测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BE866E-89EE-4732-A4EB-A60ED5DE6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552700"/>
            <a:ext cx="20383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137C7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B6E398-ED41-4B96-9157-E5512FE0F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552700"/>
            <a:ext cx="2038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7C7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3B1EB5-DF84-4C6C-82ED-C324A8DDA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76225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37C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37C71"/>
                </a:solidFill>
                <a:latin typeface="Microsoft YaHei"/>
                <a:ea typeface="Microsoft YaHei"/>
                <a:cs typeface="Microsoft YaHei"/>
              </a:rPr>
              <a:t>社区互动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9958C3-E496-461B-9F84-2E948296C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105150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111C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111C24"/>
                </a:solidFill>
                <a:latin typeface="Microsoft YaHei"/>
                <a:ea typeface="Microsoft YaHei"/>
                <a:cs typeface="Microsoft YaHei"/>
              </a:rPr>
              <a:t>讨论 / 反馈 / 秩序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A156E3-C211-4E73-A0F0-542086B33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52700"/>
            <a:ext cx="20383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2C5E9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9F53E2-FC3D-452B-AC2A-737F499B5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52700"/>
            <a:ext cx="2038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E9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90C0E0-5000-462C-914A-9286A7203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6225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C5E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C5E91"/>
                </a:solidFill>
                <a:latin typeface="Microsoft YaHei"/>
                <a:ea typeface="Microsoft YaHei"/>
                <a:cs typeface="Microsoft YaHei"/>
              </a:rPr>
              <a:t>工具服务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80EC67-9F90-41D0-B625-3C8695F80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05150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111C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111C24"/>
                </a:solidFill>
                <a:latin typeface="Microsoft YaHei"/>
                <a:ea typeface="Microsoft YaHei"/>
                <a:cs typeface="Microsoft YaHei"/>
              </a:rPr>
              <a:t>战绩 / 库存 / 加速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956D9B-AC4C-44B8-8974-BB378A206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552700"/>
            <a:ext cx="20383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74E3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2ABB2E-5D11-47D1-8107-5BC6A9FFB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552700"/>
            <a:ext cx="2038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4E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7B9092-406E-48EF-AA58-2ECDC5212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76225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74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D74E37"/>
                </a:solidFill>
                <a:latin typeface="Microsoft YaHei"/>
                <a:ea typeface="Microsoft YaHei"/>
                <a:cs typeface="Microsoft YaHei"/>
              </a:rPr>
              <a:t>平台连接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968C78-71E1-4793-BF41-B9BF4E56C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105150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111C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111C24"/>
                </a:solidFill>
                <a:latin typeface="Microsoft YaHei"/>
                <a:ea typeface="Microsoft YaHei"/>
                <a:cs typeface="Microsoft YaHei"/>
              </a:rPr>
              <a:t>Steam / 账号 / 游戏库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DE42C0-F3EB-4437-ADC1-A598D3B87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057525"/>
            <a:ext cx="590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FEBCE47-0656-4995-A958-C358F039D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057525"/>
            <a:ext cx="590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FBF8B39-D7F8-46AF-BC2F-BDDF885EB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057525"/>
            <a:ext cx="590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AA95B18-D446-425E-81F8-DAA040643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419600"/>
            <a:ext cx="93726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C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54D9423-E7A2-4ACE-B106-701E631C7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619625"/>
            <a:ext cx="8648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在公开数据中，这部分更适合被理解为“运营与产品协同观察”：先把用户语言整理成问题类型、复现路径和后续验证需求。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1D20992-6050-4D58-AF6C-CB11BD6BD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314950"/>
            <a:ext cx="3771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371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3717A"/>
                </a:solidFill>
                <a:latin typeface="Microsoft YaHei"/>
                <a:ea typeface="Microsoft YaHei"/>
                <a:cs typeface="Microsoft YaHei"/>
              </a:rPr>
              <a:t>不评价具体功能优劣，也不承诺修复效果。</a:t>
            </a:r>
          </a:p>
        </p:txBody>
      </p:sp>
    </p:spTree>
    <p:extLst>
      <p:ext uri="{BB962C8B-B14F-4D97-AF65-F5344CB8AC3E}">
        <p14:creationId xmlns:p14="http://schemas.microsoft.com/office/powerpoint/2010/main" val="58081448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55004BC-D808-4EDA-BBA3-EE5738833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BACKGROUND SIGNALS-marker">
            <a:extLst xmlns:a="http://schemas.openxmlformats.org/drawingml/2006/main">
              <a:ext uri="{FF2B5EF4-FFF2-40B4-BE49-F238E27FC236}">
                <a16:creationId xmlns:a16="http://schemas.microsoft.com/office/drawing/2014/main" id="{42718B21-245D-43E4-B6B7-FDF34C677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76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4E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BACKGROUND SIGNALS-label">
            <a:extLst xmlns:a="http://schemas.openxmlformats.org/drawingml/2006/main">
              <a:ext uri="{FF2B5EF4-FFF2-40B4-BE49-F238E27FC236}">
                <a16:creationId xmlns:a16="http://schemas.microsoft.com/office/drawing/2014/main" id="{C99C8F7C-A3C2-4F87-B7AF-4E0CBA406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409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6371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0" b="1">
                <a:solidFill>
                  <a:srgbClr val="63717A"/>
                </a:solidFill>
                <a:latin typeface="Microsoft YaHei"/>
                <a:ea typeface="Microsoft YaHei"/>
                <a:cs typeface="Microsoft YaHei"/>
              </a:rPr>
              <a:t>BACKGROUND SIGNALS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38473F-9713-427F-A5C0-E8AB57616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287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C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11C24"/>
                </a:solidFill>
                <a:latin typeface="Microsoft YaHei"/>
                <a:ea typeface="Microsoft YaHei"/>
                <a:cs typeface="Microsoft YaHei"/>
              </a:rPr>
              <a:t>下载趋势和版本节奏只做背景，不解释增长原因。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3A06E8-CB9D-409B-844C-55A14C3C7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EAF946-6F48-452D-A02B-08C34CA07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438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8A8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63" b="0">
                <a:solidFill>
                  <a:srgbClr val="8A8174"/>
                </a:solidFill>
                <a:latin typeface="Microsoft YaHei"/>
                <a:ea typeface="Microsoft YaHei"/>
                <a:cs typeface="Microsoft YaHei"/>
              </a:rPr>
              <a:t>游戏社区 App 公开数据观察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7D9D8E-1F1E-407A-90E1-BB10C221D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A8174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8A8174"/>
                </a:solidFill>
                <a:latin typeface="Georgia"/>
                <a:ea typeface="Georgia"/>
                <a:cs typeface="Georgia"/>
              </a:rPr>
              <a:t>08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2450F7-1F31-481A-AA02-D89507945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43050"/>
            <a:ext cx="52387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DDD3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d52c0ee1374f32"/>
          <a:stretch xmlns:a="http://schemas.openxmlformats.org/drawingml/2006/main"/>
        </p:blipFill>
        <p:spPr>
          <a:xfrm xmlns:a="http://schemas.openxmlformats.org/drawingml/2006/main">
            <a:off x="628650" y="1645905"/>
            <a:ext cx="5048250" cy="230889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8FB7D5-260D-4AF1-BE6D-4E826ECB4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543050"/>
            <a:ext cx="491490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DDD3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ca255c6e284229"/>
          <a:stretch xmlns:a="http://schemas.openxmlformats.org/drawingml/2006/main"/>
        </p:blipFill>
        <p:spPr>
          <a:xfrm xmlns:a="http://schemas.openxmlformats.org/drawingml/2006/main">
            <a:off x="6343650" y="1912284"/>
            <a:ext cx="4724400" cy="1776133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89B291-41E4-46B2-A55D-160985116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86300"/>
            <a:ext cx="3028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2C5E9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5476FC-116C-48B7-8E70-2C931ED80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86300"/>
            <a:ext cx="381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E9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0006F0-4429-4D1D-AC58-4A1F53AEF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10125"/>
            <a:ext cx="2762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C5E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C5E91"/>
                </a:solidFill>
                <a:latin typeface="Microsoft YaHei"/>
                <a:ea typeface="Microsoft YaHei"/>
                <a:cs typeface="Microsoft YaHei"/>
              </a:rPr>
              <a:t>下载趋势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AFAC67-4DDD-4E3C-8F2B-A9CE69341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67300"/>
            <a:ext cx="2762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C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111C24"/>
                </a:solidFill>
                <a:latin typeface="Microsoft YaHei"/>
                <a:ea typeface="Microsoft YaHei"/>
                <a:cs typeface="Microsoft YaHei"/>
              </a:rPr>
              <a:t>七麦 iPhone 新增下载预估只作为结果波动背景，不代表官方真实下载。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5D10B8-5D76-4D25-84AA-5CC215866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686300"/>
            <a:ext cx="3028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B8860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DA9340-B3F3-46F4-8BBA-A3D84A8A5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686300"/>
            <a:ext cx="381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6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A5A619-41F4-41A8-9878-F6E79F31E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810125"/>
            <a:ext cx="2762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886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B8860B"/>
                </a:solidFill>
                <a:latin typeface="Microsoft YaHei"/>
                <a:ea typeface="Microsoft YaHei"/>
                <a:cs typeface="Microsoft YaHei"/>
              </a:rPr>
              <a:t>版本节奏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C8E1A4-42B3-41FB-9957-FC2006C33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067300"/>
            <a:ext cx="2762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C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111C24"/>
                </a:solidFill>
                <a:latin typeface="Microsoft YaHei"/>
                <a:ea typeface="Microsoft YaHei"/>
                <a:cs typeface="Microsoft YaHei"/>
              </a:rPr>
              <a:t>公开版本日志只作为公开动作背景，不代表完整产品计划或真实效果。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0F60B4-A93D-46C3-8543-70778806B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686300"/>
            <a:ext cx="3028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74E3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102557-07A8-49E1-B4A7-372A39AD3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686300"/>
            <a:ext cx="381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4E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9F5AB2-8183-4F80-BDC9-3A9F82493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810125"/>
            <a:ext cx="2762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74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D74E37"/>
                </a:solidFill>
                <a:latin typeface="Microsoft YaHei"/>
                <a:ea typeface="Microsoft YaHei"/>
                <a:cs typeface="Microsoft YaHei"/>
              </a:rPr>
              <a:t>谨慎读法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91E073-99C4-4917-B4DD-88FCF4DF8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067300"/>
            <a:ext cx="2762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C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111C24"/>
                </a:solidFill>
                <a:latin typeface="Microsoft YaHei"/>
                <a:ea typeface="Microsoft YaHei"/>
                <a:cs typeface="Microsoft YaHei"/>
              </a:rPr>
              <a:t>可以标记观察窗口；不能把版本、活动、内容和下载波动串成因果解释。</a:t>
            </a:r>
          </a:p>
        </p:txBody>
      </p:sp>
    </p:spTree>
    <p:extLst>
      <p:ext uri="{BB962C8B-B14F-4D97-AF65-F5344CB8AC3E}">
        <p14:creationId xmlns:p14="http://schemas.microsoft.com/office/powerpoint/2010/main" val="52823260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157B4EE-1F47-48AD-9CCC-AD08F9C33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TGA WINDOW-marker">
            <a:extLst xmlns:a="http://schemas.openxmlformats.org/drawingml/2006/main">
              <a:ext uri="{FF2B5EF4-FFF2-40B4-BE49-F238E27FC236}">
                <a16:creationId xmlns:a16="http://schemas.microsoft.com/office/drawing/2014/main" id="{FA72CA58-C9EC-43A7-B118-654F5C52A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76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4E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TGA WINDOW-label">
            <a:extLst xmlns:a="http://schemas.openxmlformats.org/drawingml/2006/main">
              <a:ext uri="{FF2B5EF4-FFF2-40B4-BE49-F238E27FC236}">
                <a16:creationId xmlns:a16="http://schemas.microsoft.com/office/drawing/2014/main" id="{ABC01734-B1A7-46F0-BCB8-581FFED4B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409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6371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0" b="1">
                <a:solidFill>
                  <a:srgbClr val="63717A"/>
                </a:solidFill>
                <a:latin typeface="Microsoft YaHei"/>
                <a:ea typeface="Microsoft YaHei"/>
                <a:cs typeface="Microsoft YaHei"/>
              </a:rPr>
              <a:t>TGA WINDOW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829F88-234A-4417-AD6B-9931A5E41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895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C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11C24"/>
                </a:solidFill>
                <a:latin typeface="Microsoft YaHei"/>
                <a:ea typeface="Microsoft YaHei"/>
                <a:cs typeface="Microsoft YaHei"/>
              </a:rPr>
              <a:t>TGA 事件窗口更像方法论边界案例。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0EC926-0B7A-44DB-8960-B74E8C34F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3FB7C3-E5F4-4AF1-AFAA-A54264C2E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438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8A8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63" b="0">
                <a:solidFill>
                  <a:srgbClr val="8A8174"/>
                </a:solidFill>
                <a:latin typeface="Microsoft YaHei"/>
                <a:ea typeface="Microsoft YaHei"/>
                <a:cs typeface="Microsoft YaHei"/>
              </a:rPr>
              <a:t>游戏社区 App 公开数据观察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E48B8E-6E0B-40D4-8970-EDC859DBF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A8174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8A8174"/>
                </a:solidFill>
                <a:latin typeface="Georgia"/>
                <a:ea typeface="Georgia"/>
                <a:cs typeface="Georgia"/>
              </a:rPr>
              <a:t>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1500B7-BFB8-4B6D-B838-880630E55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85900"/>
            <a:ext cx="66675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DDD3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bc4fbc54c84841"/>
          <a:stretch xmlns:a="http://schemas.openxmlformats.org/drawingml/2006/main"/>
        </p:blipFill>
        <p:spPr>
          <a:xfrm xmlns:a="http://schemas.openxmlformats.org/drawingml/2006/main">
            <a:off x="667183" y="1581150"/>
            <a:ext cx="6476134" cy="34290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FB2F53-58E0-4033-B3F9-7E23437DC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619250"/>
            <a:ext cx="3143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9D1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85C524-10BA-4F80-94E6-56C47DFAB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619250"/>
            <a:ext cx="381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E9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8BEC09-69D7-4BF8-83A5-3E6CE65C1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1771650"/>
            <a:ext cx="28003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11C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111C24"/>
                </a:solidFill>
                <a:latin typeface="Microsoft YaHei"/>
                <a:ea typeface="Microsoft YaHei"/>
                <a:cs typeface="Microsoft YaHei"/>
              </a:rPr>
              <a:t>为什么看 2025-12？</a:t>
            </a:r>
          </a:p>
          <a:p xmlns:a="http://schemas.openxmlformats.org/drawingml/2006/main">
            <a:pPr algn="l">
              <a:defRPr sz="915" b="0">
                <a:solidFill>
                  <a:srgbClr val="111C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111C24"/>
                </a:solidFill>
                <a:latin typeface="Microsoft YaHei"/>
                <a:ea typeface="Microsoft YaHei"/>
                <a:cs typeface="Microsoft YaHei"/>
              </a:rPr>
              <a:t>小黑盒在 2025-12 出现样本期月度预估高位，且 2025-12-12 至 2025-12-16 形成连续观察窗口。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199CC9-E379-4453-AD09-C47BBE885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048000"/>
            <a:ext cx="3143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9D1C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F9D214-27CA-4513-ACC7-2852E61F7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048000"/>
            <a:ext cx="381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4E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C33241-86C6-4F39-848B-2DFF35D4B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3200400"/>
            <a:ext cx="28003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11C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111C24"/>
                </a:solidFill>
                <a:latin typeface="Microsoft YaHei"/>
                <a:ea typeface="Microsoft YaHei"/>
                <a:cs typeface="Microsoft YaHei"/>
              </a:rPr>
              <a:t>TGA 只作为外部观察变量。</a:t>
            </a:r>
          </a:p>
          <a:p xmlns:a="http://schemas.openxmlformats.org/drawingml/2006/main">
            <a:pPr algn="l">
              <a:defRPr sz="915" b="0">
                <a:solidFill>
                  <a:srgbClr val="111C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111C24"/>
                </a:solidFill>
                <a:latin typeface="Microsoft YaHei"/>
                <a:ea typeface="Microsoft YaHei"/>
                <a:cs typeface="Microsoft YaHei"/>
              </a:rPr>
              <a:t>它能帮助标记时间背景，不能证明活动、热点或版本动作导致下载变化。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C67782-76C8-4380-B4A6-A9764AAC1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400550"/>
            <a:ext cx="3143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9D1C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386472-7D10-42B4-BD28-95BD3AF5C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400550"/>
            <a:ext cx="381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7C7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89000E-F051-4141-9379-BE553A331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4552950"/>
            <a:ext cx="2800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C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11C24"/>
                </a:solidFill>
                <a:latin typeface="Microsoft YaHei"/>
                <a:ea typeface="Microsoft YaHei"/>
                <a:cs typeface="Microsoft YaHei"/>
              </a:rPr>
              <a:t>这个案例体现的不是归因能力，而是知道公开数据不能证明什么。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ED48F3-6E8D-4F25-BBF7-AC7C77785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505450"/>
            <a:ext cx="952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6371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63717A"/>
                </a:solidFill>
                <a:latin typeface="Microsoft YaHei"/>
                <a:ea typeface="Microsoft YaHei"/>
                <a:cs typeface="Microsoft YaHei"/>
              </a:rPr>
              <a:t>还需要活动曝光、下载来源、注册转化、端内参与、账号绑定和留存等内部数据，才能进一步验证。</a:t>
            </a:r>
          </a:p>
        </p:txBody>
      </p:sp>
    </p:spTree>
    <p:extLst>
      <p:ext uri="{BB962C8B-B14F-4D97-AF65-F5344CB8AC3E}">
        <p14:creationId xmlns:p14="http://schemas.microsoft.com/office/powerpoint/2010/main" val="89000270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CD994D5-C510-4711-9DFC-400CBAF86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EARNING LOG-marker">
            <a:extLst xmlns:a="http://schemas.openxmlformats.org/drawingml/2006/main">
              <a:ext uri="{FF2B5EF4-FFF2-40B4-BE49-F238E27FC236}">
                <a16:creationId xmlns:a16="http://schemas.microsoft.com/office/drawing/2014/main" id="{CBA483C4-A294-4889-B261-A87A2CC1A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76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4E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EARNING LOG-label">
            <a:extLst xmlns:a="http://schemas.openxmlformats.org/drawingml/2006/main">
              <a:ext uri="{FF2B5EF4-FFF2-40B4-BE49-F238E27FC236}">
                <a16:creationId xmlns:a16="http://schemas.microsoft.com/office/drawing/2014/main" id="{EA2033A2-4EE6-403A-8E56-CEF6F279D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409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6371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0" b="1">
                <a:solidFill>
                  <a:srgbClr val="63717A"/>
                </a:solidFill>
                <a:latin typeface="Microsoft YaHei"/>
                <a:ea typeface="Microsoft YaHei"/>
                <a:cs typeface="Microsoft YaHei"/>
              </a:rPr>
              <a:t>LEARNING LOG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66903A-7BA4-47DB-80E3-221165EA9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990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C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11C24"/>
                </a:solidFill>
                <a:latin typeface="Microsoft YaHei"/>
                <a:ea typeface="Microsoft YaHei"/>
                <a:cs typeface="Microsoft YaHei"/>
              </a:rPr>
              <a:t>这个项目更重要的收获，是练习控制结论边界。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486EFE-507F-4D79-B77E-3E9A27916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8E7115-354B-4A41-8112-5A6FED27F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438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8A8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63" b="0">
                <a:solidFill>
                  <a:srgbClr val="8A8174"/>
                </a:solidFill>
                <a:latin typeface="Microsoft YaHei"/>
                <a:ea typeface="Microsoft YaHei"/>
                <a:cs typeface="Microsoft YaHei"/>
              </a:rPr>
              <a:t>游戏社区 App 公开数据观察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DF40CB-1F3B-4B5C-BD80-8A7BE378F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A8174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8A8174"/>
                </a:solidFill>
                <a:latin typeface="Georgia"/>
                <a:ea typeface="Georgia"/>
                <a:cs typeface="Georgia"/>
              </a:rPr>
              <a:t>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96B649-076F-40F9-AD3A-21BC19743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1925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74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74E37"/>
                </a:solidFill>
                <a:latin typeface="Microsoft YaHei"/>
                <a:ea typeface="Microsoft YaHei"/>
                <a:cs typeface="Microsoft YaHei"/>
              </a:rPr>
              <a:t>我练习了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330C87-EBD6-4880-9A23-CD93B2A62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61925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C5E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C5E91"/>
                </a:solidFill>
                <a:latin typeface="Microsoft YaHei"/>
                <a:ea typeface="Microsoft YaHei"/>
                <a:cs typeface="Microsoft YaHei"/>
              </a:rPr>
              <a:t>需要继续确认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E3BBF4-8CCF-48C2-BF3F-A83E7295C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14550"/>
            <a:ext cx="4381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74E3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619841-E5CA-41FC-819F-21C463E11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14550"/>
            <a:ext cx="381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4E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1AB751-A26C-4848-946F-DAAF0C293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38375"/>
            <a:ext cx="411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74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D74E37"/>
                </a:solidFill>
                <a:latin typeface="Microsoft YaHei"/>
                <a:ea typeface="Microsoft YaHei"/>
                <a:cs typeface="Microsoft YaHei"/>
              </a:rPr>
              <a:t>拆问题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491134-79FC-4539-B7E9-29AA0E03E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95550"/>
            <a:ext cx="411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C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111C24"/>
                </a:solidFill>
                <a:latin typeface="Microsoft YaHei"/>
                <a:ea typeface="Microsoft YaHei"/>
                <a:cs typeface="Microsoft YaHei"/>
              </a:rPr>
              <a:t>学会从公开数据中拆出问题线索，而不是急着下结论。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FFC0D2-D2A7-483B-BF9C-AE4F43E67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4381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137C7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6DA684-DE99-42C1-AB89-74FD06F13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381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7C7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46A5B6-F358-4371-AD5F-42443ECED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67075"/>
            <a:ext cx="411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37C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37C71"/>
                </a:solidFill>
                <a:latin typeface="Microsoft YaHei"/>
                <a:ea typeface="Microsoft YaHei"/>
                <a:cs typeface="Microsoft YaHei"/>
              </a:rPr>
              <a:t>控边界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B7B037-B2AE-4851-B095-B59E1CF07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24250"/>
            <a:ext cx="411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C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111C24"/>
                </a:solidFill>
                <a:latin typeface="Microsoft YaHei"/>
                <a:ea typeface="Microsoft YaHei"/>
                <a:cs typeface="Microsoft YaHei"/>
              </a:rPr>
              <a:t>学习区分评论、关键词、下载预估和版本日志各自能说明什么。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9C79D3-4E73-4A9A-8EB2-C1F1F7A31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71950"/>
            <a:ext cx="4381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74E3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FCDBA0-399A-4355-B430-73A85C7E3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71950"/>
            <a:ext cx="381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4E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EA0AEE-7F8D-4AC6-A2DC-8E387A879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95775"/>
            <a:ext cx="411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74E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D74E37"/>
                </a:solidFill>
                <a:latin typeface="Microsoft YaHei"/>
                <a:ea typeface="Microsoft YaHei"/>
                <a:cs typeface="Microsoft YaHei"/>
              </a:rPr>
              <a:t>做复核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43BDBA-0CF8-4236-91BA-9AF7F94B9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52950"/>
            <a:ext cx="411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C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111C24"/>
                </a:solidFill>
                <a:latin typeface="Microsoft YaHei"/>
                <a:ea typeface="Microsoft YaHei"/>
                <a:cs typeface="Microsoft YaHei"/>
              </a:rPr>
              <a:t>结合 Python 输出、Excel 复核和人工审稿，检查数字、路径和图表引用。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98B401-1428-4350-8B9B-802DA223F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114550"/>
            <a:ext cx="4381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2C5E9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C9AF98-A720-4F0E-883F-B86F0E7F6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114550"/>
            <a:ext cx="381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E9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CD6B49-FA08-4A40-838A-696DA1453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238375"/>
            <a:ext cx="411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C5E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C5E91"/>
                </a:solidFill>
                <a:latin typeface="Microsoft YaHei"/>
                <a:ea typeface="Microsoft YaHei"/>
                <a:cs typeface="Microsoft YaHei"/>
              </a:rPr>
              <a:t>AI / Codex 辅助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9746E0-E1A2-4913-B245-8067F0A77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95550"/>
            <a:ext cx="411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C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111C24"/>
                </a:solidFill>
                <a:latin typeface="Microsoft YaHei"/>
                <a:ea typeface="Microsoft YaHei"/>
                <a:cs typeface="Microsoft YaHei"/>
              </a:rPr>
              <a:t>主要用于代码阅读、文档整理、检查清单和口径风险检查。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C118E34-E6DE-4C35-BB79-AA545F0BE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143250"/>
            <a:ext cx="4381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137C7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311858C-EA7B-4941-97F9-D756FC2E7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143250"/>
            <a:ext cx="381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7C7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DD4123B-4C57-47DD-87DF-3BB49551A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267075"/>
            <a:ext cx="411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37C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37C71"/>
                </a:solidFill>
                <a:latin typeface="Microsoft YaHei"/>
                <a:ea typeface="Microsoft YaHei"/>
                <a:cs typeface="Microsoft YaHei"/>
              </a:rPr>
              <a:t>人工确认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C7C0C34-B426-4B45-BCE4-072F29FE6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524250"/>
            <a:ext cx="411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C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111C24"/>
                </a:solidFill>
                <a:latin typeface="Microsoft YaHei"/>
                <a:ea typeface="Microsoft YaHei"/>
                <a:cs typeface="Microsoft YaHei"/>
              </a:rPr>
              <a:t>项目定位、报告修改、证据边界和关键结论取舍由人工完成。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7B36FC3-E1D5-4544-934A-9C998CFC1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171950"/>
            <a:ext cx="4381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2C5E9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3E19305-F713-402C-9DE4-D193FB69D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171950"/>
            <a:ext cx="381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E9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B45F44D-D4DB-40B2-AC8C-779AE71A2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295775"/>
            <a:ext cx="411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C5E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C5E91"/>
                </a:solidFill>
                <a:latin typeface="Microsoft YaHei"/>
                <a:ea typeface="Microsoft YaHei"/>
                <a:cs typeface="Microsoft YaHei"/>
              </a:rPr>
              <a:t>后续限制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6414604-4C8C-4DC5-A451-54287BDD7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552950"/>
            <a:ext cx="411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C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111C24"/>
                </a:solidFill>
                <a:latin typeface="Microsoft YaHei"/>
                <a:ea typeface="Microsoft YaHei"/>
                <a:cs typeface="Microsoft YaHei"/>
              </a:rPr>
              <a:t>真实业务场景仍需要内部行为、留存、客服、活动和故障数据验证。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5249456-EE33-4165-96AA-2B6FB60E5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9525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519D20A-D134-4957-943E-1EB497D39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657850"/>
            <a:ext cx="742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111C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11C24"/>
                </a:solidFill>
                <a:latin typeface="Microsoft YaHei"/>
                <a:ea typeface="Microsoft YaHei"/>
                <a:cs typeface="Microsoft YaHei"/>
              </a:rPr>
              <a:t>更准确的定位：在 AI / Codex 辅助下完成的一次学习型公开数据分析实践。</a:t>
            </a:r>
          </a:p>
        </p:txBody>
      </p:sp>
    </p:spTree>
    <p:extLst>
      <p:ext uri="{BB962C8B-B14F-4D97-AF65-F5344CB8AC3E}">
        <p14:creationId xmlns:p14="http://schemas.microsoft.com/office/powerpoint/2010/main" val="116903113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C848427-6BA6-4EF6-95E3-B41BC362D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C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42A86B-1284-44CE-8C27-AE96335E5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C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PROJECT ENTRY-marker">
            <a:extLst xmlns:a="http://schemas.openxmlformats.org/drawingml/2006/main">
              <a:ext uri="{FF2B5EF4-FFF2-40B4-BE49-F238E27FC236}">
                <a16:creationId xmlns:a16="http://schemas.microsoft.com/office/drawing/2014/main" id="{00227CC4-6EA5-4922-881D-872DC0EE0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81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C65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PROJECT ENTRY-label">
            <a:extLst xmlns:a="http://schemas.openxmlformats.org/drawingml/2006/main">
              <a:ext uri="{FF2B5EF4-FFF2-40B4-BE49-F238E27FC236}">
                <a16:creationId xmlns:a16="http://schemas.microsoft.com/office/drawing/2014/main" id="{D40BD1AD-FE32-45DF-B366-97C905C9B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0550"/>
            <a:ext cx="409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D0D7D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0" b="1">
                <a:solidFill>
                  <a:srgbClr val="D0D7DD"/>
                </a:solidFill>
                <a:latin typeface="Microsoft YaHei"/>
                <a:ea typeface="Microsoft YaHei"/>
                <a:cs typeface="Microsoft YaHei"/>
              </a:rPr>
              <a:t>PROJECT ENTRY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E5D1FD-EE24-48BB-8B92-959617229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24050"/>
            <a:ext cx="457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谢谢观看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5F1EA1-72A1-4C48-8060-2A4071DAC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24150"/>
            <a:ext cx="628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5DEE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D5DEE4"/>
                </a:solidFill>
                <a:latin typeface="Microsoft YaHei"/>
                <a:ea typeface="Microsoft YaHei"/>
                <a:cs typeface="Microsoft YaHei"/>
              </a:rPr>
              <a:t>这份 PPT 对应公开仓库中的正式报告与说明文档。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B280C9-5B50-4760-B8DD-24E39AA08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86150"/>
            <a:ext cx="590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65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52F8A0-1AC2-44A8-9DA1-0BA77C821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3C6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F3C65D"/>
                </a:solidFill>
                <a:latin typeface="Microsoft YaHei"/>
                <a:ea typeface="Microsoft YaHei"/>
                <a:cs typeface="Microsoft YaHei"/>
              </a:rPr>
              <a:t>GitHub 仓库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062BE5-2C9B-4E32-BBCD-15018EAE0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905250"/>
            <a:ext cx="619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E8EE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E8EEF2"/>
                </a:solidFill>
                <a:latin typeface="Microsoft YaHei"/>
                <a:ea typeface="Microsoft YaHei"/>
                <a:cs typeface="Microsoft YaHei"/>
              </a:rPr>
              <a:t>github.com/lememe2026-jpg/game-community-app-analysis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DE5140-DD51-4706-8DE2-B175A33D2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2435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3C6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F3C65D"/>
                </a:solidFill>
                <a:latin typeface="Microsoft YaHei"/>
                <a:ea typeface="Microsoft YaHei"/>
                <a:cs typeface="Microsoft YaHei"/>
              </a:rPr>
              <a:t>PDF 报告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64C71A-0113-4916-9B3D-94FEE889E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324350"/>
            <a:ext cx="619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E8EE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E8EEF2"/>
                </a:solidFill>
                <a:latin typeface="Microsoft YaHei"/>
                <a:ea typeface="Microsoft YaHei"/>
                <a:cs typeface="Microsoft YaHei"/>
              </a:rPr>
              <a:t>portfolio/game_community_app_analysis_report.pdf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350551-C6AA-4267-984D-46D84291C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3C6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F3C65D"/>
                </a:solidFill>
                <a:latin typeface="Microsoft YaHei"/>
                <a:ea typeface="Microsoft YaHei"/>
                <a:cs typeface="Microsoft YaHei"/>
              </a:rPr>
              <a:t>Markdown 报告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860DFC-C7D0-43CA-B522-8B6D755F1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743450"/>
            <a:ext cx="619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E8EE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E8EEF2"/>
                </a:solidFill>
                <a:latin typeface="Microsoft YaHei"/>
                <a:ea typeface="Microsoft YaHei"/>
                <a:cs typeface="Microsoft YaHei"/>
              </a:rPr>
              <a:t>portfolio/game_community_app_analysis_report.md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7A7935-14EF-4147-90B3-EC668AC3F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6255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3C6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F3C65D"/>
                </a:solidFill>
                <a:latin typeface="Microsoft YaHei"/>
                <a:ea typeface="Microsoft YaHei"/>
                <a:cs typeface="Microsoft YaHei"/>
              </a:rPr>
              <a:t>本版 PPT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36E514-20F2-4832-A143-8BCB08D01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162550"/>
            <a:ext cx="619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E8EE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E8EEF2"/>
                </a:solidFill>
                <a:latin typeface="Microsoft YaHei"/>
                <a:ea typeface="Microsoft YaHei"/>
                <a:cs typeface="Microsoft YaHei"/>
              </a:rPr>
              <a:t>slides/game_community_app_analysis_presentation_v3.pptx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C3271E-45E6-483B-B05F-52AB2BB61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817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8C3C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B8C3CA"/>
                </a:solidFill>
                <a:latin typeface="Microsoft YaHei"/>
                <a:ea typeface="Microsoft YaHei"/>
                <a:cs typeface="Microsoft YaHei"/>
              </a:rPr>
              <a:t>公开数据观察链 / 人工复核 / AI 与 Codex 辅助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20C120-EFD0-47DF-86AD-D16A0DE86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465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373405-A32B-4DDE-8A26-8B168A9AB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438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B8C3C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63" b="0">
                <a:solidFill>
                  <a:srgbClr val="B8C3CA"/>
                </a:solidFill>
                <a:latin typeface="Microsoft YaHei"/>
                <a:ea typeface="Microsoft YaHei"/>
                <a:cs typeface="Microsoft YaHei"/>
              </a:rPr>
              <a:t>游戏社区 App 公开数据观察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2F4A3C-D599-41FF-8397-7A8207559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B8C3CA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B8C3CA"/>
                </a:solidFill>
                <a:latin typeface="Georgia"/>
                <a:ea typeface="Georgia"/>
                <a:cs typeface="Georgia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9766200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2026-05-10T17:18:42.2240000Z</dcterms:created>
  <dcterms:modified xsi:type="dcterms:W3CDTF">2026-05-10T17:18:42.2240000Z</dcterms:modified>
</coreProperties>
</file>