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213d1a75464524" /><Relationship Type="http://schemas.openxmlformats.org/officeDocument/2006/relationships/extended-properties" Target="/docProps/app.xml" Id="R483fb0d4a57b42c8" /><Relationship Type="http://schemas.openxmlformats.org/officeDocument/2006/relationships/officeDocument" Target="/ppt/presentation.xml" Id="Rb51d3795032b42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3afccf6d448f7"/>
  </p:sldMasterIdLst>
  <p:notesMasterIdLst>
    <p:notesMasterId xmlns:r="http://schemas.openxmlformats.org/officeDocument/2006/relationships" r:id="Rb851644d93254f34"/>
  </p:notesMasterIdLst>
  <p:sldIdLst>
    <p:sldId xmlns:r="http://schemas.openxmlformats.org/officeDocument/2006/relationships" id="256" r:id="Rfb58a77eced84743"/>
    <p:sldId xmlns:r="http://schemas.openxmlformats.org/officeDocument/2006/relationships" id="257" r:id="R68a1f7309d5c4677"/>
    <p:sldId xmlns:r="http://schemas.openxmlformats.org/officeDocument/2006/relationships" id="258" r:id="R37647a23d3b74328"/>
    <p:sldId xmlns:r="http://schemas.openxmlformats.org/officeDocument/2006/relationships" id="259" r:id="R8100fc6a191943f2"/>
    <p:sldId xmlns:r="http://schemas.openxmlformats.org/officeDocument/2006/relationships" id="260" r:id="R4d48442d3ee74779"/>
    <p:sldId xmlns:r="http://schemas.openxmlformats.org/officeDocument/2006/relationships" id="261" r:id="R4e6eacd3c8bc4338"/>
    <p:sldId xmlns:r="http://schemas.openxmlformats.org/officeDocument/2006/relationships" id="262" r:id="R36f6583c53ff40c0"/>
    <p:sldId xmlns:r="http://schemas.openxmlformats.org/officeDocument/2006/relationships" id="263" r:id="R0767338ba2244566"/>
    <p:sldId xmlns:r="http://schemas.openxmlformats.org/officeDocument/2006/relationships" id="264" r:id="R1177ad96cfbc45eb"/>
    <p:sldId xmlns:r="http://schemas.openxmlformats.org/officeDocument/2006/relationships" id="265" r:id="R38ccca9f75c14dc7"/>
    <p:sldId xmlns:r="http://schemas.openxmlformats.org/officeDocument/2006/relationships" id="266" r:id="Rfa3b8f69b9d045c1"/>
    <p:sldId xmlns:r="http://schemas.openxmlformats.org/officeDocument/2006/relationships" id="267" r:id="R858f57cae0184c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3afccf6d448f7" /><Relationship Type="http://schemas.openxmlformats.org/officeDocument/2006/relationships/theme" Target="/ppt/theme/theme1.xml" Id="R9c66deb7137545a1" /><Relationship Type="http://schemas.openxmlformats.org/officeDocument/2006/relationships/notesMaster" Target="/ppt/notesMasters/notesMaster1.xml" Id="Rb851644d93254f34" /><Relationship Type="http://schemas.openxmlformats.org/officeDocument/2006/relationships/presProps" Target="/ppt/presProps.xml" Id="Rf3b39e02c3fb433f" /><Relationship Type="http://schemas.openxmlformats.org/officeDocument/2006/relationships/viewProps" Target="/ppt/viewProps.xml" Id="Rc6c056682c9b43da" /><Relationship Type="http://schemas.openxmlformats.org/officeDocument/2006/relationships/tableStyles" Target="/ppt/tableStyles.xml" Id="Rd9f629a04f394828" /><Relationship Type="http://schemas.openxmlformats.org/officeDocument/2006/relationships/slide" Target="/ppt/slides/slide1.xml" Id="Rfb58a77eced84743" /><Relationship Type="http://schemas.openxmlformats.org/officeDocument/2006/relationships/slide" Target="/ppt/slides/slide2.xml" Id="R68a1f7309d5c4677" /><Relationship Type="http://schemas.openxmlformats.org/officeDocument/2006/relationships/slide" Target="/ppt/slides/slide3.xml" Id="R37647a23d3b74328" /><Relationship Type="http://schemas.openxmlformats.org/officeDocument/2006/relationships/slide" Target="/ppt/slides/slide4.xml" Id="R8100fc6a191943f2" /><Relationship Type="http://schemas.openxmlformats.org/officeDocument/2006/relationships/slide" Target="/ppt/slides/slide5.xml" Id="R4d48442d3ee74779" /><Relationship Type="http://schemas.openxmlformats.org/officeDocument/2006/relationships/slide" Target="/ppt/slides/slide6.xml" Id="R4e6eacd3c8bc4338" /><Relationship Type="http://schemas.openxmlformats.org/officeDocument/2006/relationships/slide" Target="/ppt/slides/slide7.xml" Id="R36f6583c53ff40c0" /><Relationship Type="http://schemas.openxmlformats.org/officeDocument/2006/relationships/slide" Target="/ppt/slides/slide8.xml" Id="R0767338ba2244566" /><Relationship Type="http://schemas.openxmlformats.org/officeDocument/2006/relationships/slide" Target="/ppt/slides/slide9.xml" Id="R1177ad96cfbc45eb" /><Relationship Type="http://schemas.openxmlformats.org/officeDocument/2006/relationships/slide" Target="/ppt/slides/slide10.xml" Id="R38ccca9f75c14dc7" /><Relationship Type="http://schemas.openxmlformats.org/officeDocument/2006/relationships/slide" Target="/ppt/slides/slide11.xml" Id="Rfa3b8f69b9d045c1" /><Relationship Type="http://schemas.openxmlformats.org/officeDocument/2006/relationships/slide" Target="/ppt/slides/slide12.xml" Id="R858f57cae0184c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c1c3812e6a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94cb70e97a40d4" /><Relationship Type="http://schemas.openxmlformats.org/officeDocument/2006/relationships/notesMaster" Target="/ppt/notesMasters/notesMaster1.xml" Id="R153252465c8d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e764a257174b0f" /><Relationship Type="http://schemas.openxmlformats.org/officeDocument/2006/relationships/notesMaster" Target="/ppt/notesMasters/notesMaster1.xml" Id="R0c2d20ee868c4b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a424dfee414c23" /><Relationship Type="http://schemas.openxmlformats.org/officeDocument/2006/relationships/notesMaster" Target="/ppt/notesMasters/notesMaster1.xml" Id="R823857bf0b63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18d8ec65914251" /><Relationship Type="http://schemas.openxmlformats.org/officeDocument/2006/relationships/notesMaster" Target="/ppt/notesMasters/notesMaster1.xml" Id="Rcbc3dc0634aa49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b4341d731f4a5b" /><Relationship Type="http://schemas.openxmlformats.org/officeDocument/2006/relationships/notesMaster" Target="/ppt/notesMasters/notesMaster1.xml" Id="Rd21ea08f456046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64a466a2c54fad" /><Relationship Type="http://schemas.openxmlformats.org/officeDocument/2006/relationships/notesMaster" Target="/ppt/notesMasters/notesMaster1.xml" Id="R677120ced6f442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501c59e0ab4a71" /><Relationship Type="http://schemas.openxmlformats.org/officeDocument/2006/relationships/notesMaster" Target="/ppt/notesMasters/notesMaster1.xml" Id="Rab7c5504f33f44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f86066febc49b5" /><Relationship Type="http://schemas.openxmlformats.org/officeDocument/2006/relationships/notesMaster" Target="/ppt/notesMasters/notesMaster1.xml" Id="Rcb22971471684d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1149fbb87048f5" /><Relationship Type="http://schemas.openxmlformats.org/officeDocument/2006/relationships/notesMaster" Target="/ppt/notesMasters/notesMaster1.xml" Id="R0906c7ceaa2449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e3442840674d3d" /><Relationship Type="http://schemas.openxmlformats.org/officeDocument/2006/relationships/notesMaster" Target="/ppt/notesMasters/notesMaster1.xml" Id="Rf4683bbefda647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11b08d04d84f6d" /><Relationship Type="http://schemas.openxmlformats.org/officeDocument/2006/relationships/notesMaster" Target="/ppt/notesMasters/notesMaster1.xml" Id="Rd0e0050c79c14e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ec26a973604e7b" /><Relationship Type="http://schemas.openxmlformats.org/officeDocument/2006/relationships/notesMaster" Target="/ppt/notesMasters/notesMaster1.xml" Id="Ra3711f8cc4964d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d04854a3a4b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9b51f174c1443a" /><Relationship Type="http://schemas.openxmlformats.org/officeDocument/2006/relationships/slideLayout" Target="/ppt/slideLayouts/slideLayout2.xml" Id="R55dc0f44427444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dc0f44427444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e997b0acb24344" /><Relationship Type="http://schemas.openxmlformats.org/officeDocument/2006/relationships/notesSlide" Target="/ppt/notesSlides/notesSlide1.xml" Id="R7bed0b792cab48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780ff943b4bb3" /><Relationship Type="http://schemas.openxmlformats.org/officeDocument/2006/relationships/notesSlide" Target="/ppt/notesSlides/notesSlide2.xml" Id="R4a76f24b00cd4a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565247e0844f8" /><Relationship Type="http://schemas.openxmlformats.org/officeDocument/2006/relationships/notesSlide" Target="/ppt/notesSlides/notesSlide3.xml" Id="R67fc4c5788f8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34f48773442c4" /><Relationship Type="http://schemas.openxmlformats.org/officeDocument/2006/relationships/notesSlide" Target="/ppt/notesSlides/notesSlide4.xml" Id="R0535ec6d56874f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6f5a52d9724567" /><Relationship Type="http://schemas.openxmlformats.org/officeDocument/2006/relationships/image" Target="/ppt/media/image.png" Id="Rf5f65092f08c4c1b" /><Relationship Type="http://schemas.openxmlformats.org/officeDocument/2006/relationships/notesSlide" Target="/ppt/notesSlides/notesSlide5.xml" Id="R1fbd2473498f41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2e5502adbc4952" /><Relationship Type="http://schemas.openxmlformats.org/officeDocument/2006/relationships/image" Target="/ppt/media/image2.png" Id="R3c7a21ae027c4edb" /><Relationship Type="http://schemas.openxmlformats.org/officeDocument/2006/relationships/notesSlide" Target="/ppt/notesSlides/notesSlide6.xml" Id="R50446497c09b47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d3a81b225f4d2e" /><Relationship Type="http://schemas.openxmlformats.org/officeDocument/2006/relationships/notesSlide" Target="/ppt/notesSlides/notesSlide7.xml" Id="Rc03f87a6138d4d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5b8489c44e424d" /><Relationship Type="http://schemas.openxmlformats.org/officeDocument/2006/relationships/notesSlide" Target="/ppt/notesSlides/notesSlide8.xml" Id="R37700e0068224d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f132072d8743eb" /><Relationship Type="http://schemas.openxmlformats.org/officeDocument/2006/relationships/image" Target="/ppt/media/image3.png" Id="R60c72c225eae422f" /><Relationship Type="http://schemas.openxmlformats.org/officeDocument/2006/relationships/image" Target="/ppt/media/image4.png" Id="Rf47cf51b6b4e46e3" /><Relationship Type="http://schemas.openxmlformats.org/officeDocument/2006/relationships/notesSlide" Target="/ppt/notesSlides/notesSlide9.xml" Id="R01be53b4c97b4d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24eaad816b4654" /><Relationship Type="http://schemas.openxmlformats.org/officeDocument/2006/relationships/notesSlide" Target="/ppt/notesSlides/notesSlide10.xml" Id="Rbd77e92ccce041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9bbb87273e4a45" /><Relationship Type="http://schemas.openxmlformats.org/officeDocument/2006/relationships/notesSlide" Target="/ppt/notesSlides/notesSlide11.xml" Id="Rccc3843ab44a40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c3df0c7514e7c" /><Relationship Type="http://schemas.openxmlformats.org/officeDocument/2006/relationships/notesSlide" Target="/ppt/notesSlides/notesSlide12.xml" Id="R1a25b542501c4524" />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B6BF84A0-569D-43FE-A913-D6CE0CC9351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15212B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D0DADF43-F684-42B6-AFEE-1158157FE41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285750" cy="6858000"/>
          </a:xfrm>
          <a:prstGeom prst="rect">
            <a:avLst/>
          </a:prstGeom>
          <a:solidFill>
            <a:srgbClr val="C2452D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72E274A9-BC48-499B-B289-960B9B666C22}"/>
              </a:ext>
            </a:extLst>
          </ns0:cNvPr>
          <ns0:cNvSpPr>
            <a:spLocks noGrp="1"/>
          </ns0:cNvSpPr>
          <ns0:nvPr/>
        </ns0:nvSpPr>
        <ns0:spPr>
          <a:xfrm>
            <a:off x="9334500" y="0"/>
            <a:ext cx="2857500" cy="6858000"/>
          </a:xfrm>
          <a:prstGeom prst="rect">
            <a:avLst/>
          </a:prstGeom>
          <a:solidFill>
            <a:srgbClr val="203241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4F9CFBC7-9665-429B-A7C0-D1DE4436F63A}"/>
              </a:ext>
            </a:extLst>
          </ns0:cNvPr>
          <ns0:cNvSpPr>
            <a:spLocks noGrp="1"/>
          </ns0:cNvSpPr>
          <ns0:nvPr/>
        </ns0:nvSpPr>
        <ns0:spPr>
          <a:xfrm>
            <a:off x="685800" y="5334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5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rPr>
              <a:t>PRESENTATION V1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7A335830-7C17-494D-8711-31B3A66DFF95}"/>
              </a:ext>
            </a:extLst>
          </ns0:cNvPr>
          <ns0:cNvSpPr>
            <a:spLocks noGrp="1"/>
          </ns0:cNvSpPr>
          <ns0:nvPr/>
        </ns0:nvSpPr>
        <ns0:spPr>
          <a:xfrm>
            <a:off x="685800" y="1381125"/>
            <a:ext cx="723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3600" b="1">
                <a:solidFill>
                  <a:srgbClr val="FFFDF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FFFDF8"/>
                </a:solidFill>
                <a:latin typeface="Microsoft YaHei UI"/>
                <a:ea typeface="Microsoft YaHei UI"/>
                <a:cs typeface="Microsoft YaHei UI"/>
              </a:rPr>
              <a:t>游戏社区 App 运营分析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C1C11C4-6120-4B8A-B3B3-67C9D5388338}"/>
              </a:ext>
            </a:extLst>
          </ns0:cNvPr>
          <ns0:cNvSpPr>
            <a:spLocks noGrp="1"/>
          </ns0:cNvSpPr>
          <ns0:nvPr/>
        </ns0:nvSpPr>
        <ns0:spPr>
          <a:xfrm>
            <a:off x="685800" y="211455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10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rPr>
              <a:t>以小黑盒与游民星空为例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33F0848B-089A-4AAF-B482-A91050B70E39}"/>
              </a:ext>
            </a:extLst>
          </ns0:cNvPr>
          <ns0:cNvSpPr>
            <a:spLocks noGrp="1"/>
          </ns0:cNvSpPr>
          <ns0:nvPr/>
        </ns0:nvSpPr>
        <ns0:spPr>
          <a:xfrm>
            <a:off x="685800" y="2781300"/>
            <a:ext cx="5810250" cy="9525"/>
          </a:xfrm>
          <a:prstGeom prst="rect">
            <a:avLst/>
          </a:prstGeom>
          <a:solidFill>
            <a:srgbClr val="6F7B8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52A9FCD3-B83A-4C1E-A398-8993CDC9DDC0}"/>
              </a:ext>
            </a:extLst>
          </ns0:cNvPr>
          <ns0:cNvSpPr>
            <a:spLocks noGrp="1"/>
          </ns0:cNvSpPr>
          <ns0:nvPr/>
        </ns0:nvSpPr>
        <ns0:spPr>
          <a:xfrm>
            <a:off x="685800" y="3067050"/>
            <a:ext cx="7810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800" b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基于七麦数据的下载趋势、用户评论、关键词需求与运营策略分析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96C21D5E-0975-4DFB-BC01-7E117CEB4847}"/>
              </a:ext>
            </a:extLst>
          </ns0:cNvPr>
          <ns0:cNvSpPr>
            <a:spLocks noGrp="1"/>
          </ns0:cNvSpPr>
          <ns0:nvPr/>
        </ns0:nvSpPr>
        <ns0:spPr>
          <a:xfrm>
            <a:off x="685800" y="47815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0">
                <a:solidFill>
                  <a:srgbClr val="C9D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D3D8"/>
                </a:solidFill>
                <a:latin typeface="Microsoft YaHei"/>
                <a:ea typeface="Microsoft YaHei"/>
                <a:cs typeface="Microsoft YaHei"/>
              </a:rPr>
              <a:t>面向游戏社区运营 / 游戏行业运营 / 数据向运营实习的公开数据观察项目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3BF986A5-35FC-4FBD-94F2-1CA4CA2B2867}"/>
              </a:ext>
            </a:extLst>
          </ns0:cNvPr>
          <ns0:cNvSpPr>
            <a:spLocks noGrp="1"/>
          </ns0:cNvSpPr>
          <ns0:nvPr/>
        </ns0:nvSpPr>
        <ns0:spPr>
          <a:xfrm>
            <a:off x="685800" y="5600700"/>
            <a:ext cx="1104900" cy="342900"/>
          </a:xfrm>
          <a:prstGeom prst="rect">
            <a:avLst/>
          </a:prstGeom>
          <a:solidFill>
            <a:srgbClr val="283A48"/>
          </a:solidFill>
          <a:ln w="9525">
            <a:solidFill>
              <a:srgbClr val="6F7B84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CE6CA308-536D-4745-A280-7718149B9C50}"/>
              </a:ext>
            </a:extLst>
          </ns0:cNvPr>
          <ns0:cNvSpPr>
            <a:spLocks noGrp="1"/>
          </ns0:cNvSpPr>
          <ns0:nvPr/>
        </ns0:nvSpPr>
        <ns0:spPr>
          <a:xfrm>
            <a:off x="685800" y="5657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ctr">
              <a:defRPr sz="1275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评论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64753643-F428-4EF9-A3D5-CEAB85A3A9A5}"/>
              </a:ext>
            </a:extLst>
          </ns0:cNvPr>
          <ns0:cNvSpPr>
            <a:spLocks noGrp="1"/>
          </ns0:cNvSpPr>
          <ns0:nvPr/>
        </ns0:nvSpPr>
        <ns0:spPr>
          <a:xfrm>
            <a:off x="2066925" y="5600700"/>
            <a:ext cx="1104900" cy="342900"/>
          </a:xfrm>
          <a:prstGeom prst="rect">
            <a:avLst/>
          </a:prstGeom>
          <a:solidFill>
            <a:srgbClr val="283A48"/>
          </a:solidFill>
          <a:ln w="9525">
            <a:solidFill>
              <a:srgbClr val="6F7B84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7AEFF0F4-43BF-4F9E-B2E0-AF273B5BF3BE}"/>
              </a:ext>
            </a:extLst>
          </ns0:cNvPr>
          <ns0:cNvSpPr>
            <a:spLocks noGrp="1"/>
          </ns0:cNvSpPr>
          <ns0:nvPr/>
        </ns0:nvSpPr>
        <ns0:spPr>
          <a:xfrm>
            <a:off x="2066925" y="5657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ctr">
              <a:defRPr sz="1275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6E56218B-3A82-40A1-9F83-17B6A1FD12D1}"/>
              </a:ext>
            </a:extLst>
          </ns0:cNvPr>
          <ns0:cNvSpPr>
            <a:spLocks noGrp="1"/>
          </ns0:cNvSpPr>
          <ns0:nvPr/>
        </ns0:nvSpPr>
        <ns0:spPr>
          <a:xfrm>
            <a:off x="3448050" y="5600700"/>
            <a:ext cx="1104900" cy="342900"/>
          </a:xfrm>
          <a:prstGeom prst="rect">
            <a:avLst/>
          </a:prstGeom>
          <a:solidFill>
            <a:srgbClr val="283A48"/>
          </a:solidFill>
          <a:ln w="9525">
            <a:solidFill>
              <a:srgbClr val="6F7B84"/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28DC9B6C-6A70-4F86-BC9A-D045968BBAB6}"/>
              </a:ext>
            </a:extLst>
          </ns0:cNvPr>
          <ns0:cNvSpPr>
            <a:spLocks noGrp="1"/>
          </ns0:cNvSpPr>
          <ns0:nvPr/>
        </ns0:nvSpPr>
        <ns0:spPr>
          <a:xfrm>
            <a:off x="3448050" y="5657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ctr">
              <a:defRPr sz="1275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下载趋势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93027752-6A49-4177-8299-18E2C6B94584}"/>
              </a:ext>
            </a:extLst>
          </ns0:cNvPr>
          <ns0:cNvSpPr>
            <a:spLocks noGrp="1"/>
          </ns0:cNvSpPr>
          <ns0:nvPr/>
        </ns0:nvSpPr>
        <ns0:spPr>
          <a:xfrm>
            <a:off x="4829175" y="5600700"/>
            <a:ext cx="1104900" cy="342900"/>
          </a:xfrm>
          <a:prstGeom prst="rect">
            <a:avLst/>
          </a:prstGeom>
          <a:solidFill>
            <a:srgbClr val="283A48"/>
          </a:solidFill>
          <a:ln w="9525">
            <a:solidFill>
              <a:srgbClr val="6F7B84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FEA5290C-9875-4EE7-9644-3FF204E45A85}"/>
              </a:ext>
            </a:extLst>
          </ns0:cNvPr>
          <ns0:cNvSpPr>
            <a:spLocks noGrp="1"/>
          </ns0:cNvSpPr>
          <ns0:nvPr/>
        </ns0:nvSpPr>
        <ns0:spPr>
          <a:xfrm>
            <a:off x="4829175" y="5657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ctr">
              <a:defRPr sz="1275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版本节奏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6A218B84-B992-4B91-9E21-52186A6A521D}"/>
              </a:ext>
            </a:extLst>
          </ns0:cNvPr>
          <ns0:cNvSpPr>
            <a:spLocks noGrp="1"/>
          </ns0:cNvSpPr>
          <ns0:nvPr/>
        </ns0:nvSpPr>
        <ns0:spPr>
          <a:xfrm>
            <a:off x="9658350" y="52768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35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rPr>
              <a:t>公开数据观察链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B899CEB4-E1D6-4B33-8989-9D0734E1EB12}"/>
              </a:ext>
            </a:extLst>
          </ns0:cNvPr>
          <ns0:cNvSpPr>
            <a:spLocks noGrp="1"/>
          </ns0:cNvSpPr>
          <ns0:nvPr/>
        </ns0:nvSpPr>
        <ns0:spPr>
          <a:xfrm>
            <a:off x="9658350" y="55626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不是因果结论链</a:t>
            </a:r>
          </a:p>
        </ns0:txBody>
      </ns0:sp>
    </ns0:spTree>
    <ns0:extLst>
      <ns0:ext uri="{BB962C8B-B14F-4D97-AF65-F5344CB8AC3E}">
        <ns3:creationId val="2058936575"/>
      </ns0:ext>
    </ns0:extLst>
  </ns0:cSld>
</ns0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10F2F8-EC37-45E8-B72A-8EFDEC7E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D737A-29A8-4F00-9EB9-C8C64D53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C702D-C777-4254-BE86-4CAFEF1F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245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BD827-7103-4321-A35F-729450D9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7DFBFF-88F6-4DBD-B821-D29165B4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52D"/>
          </a:solidFill>
          <a:ln xmlns:a="http://schemas.openxmlformats.org/drawingml/2006/main" w="0">
            <a:solidFill>
              <a:srgbClr val="C2452D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9F6039-80A0-49EA-923D-FDFAD4E1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PROJECT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3C2F2-7B33-44E8-9CE3-03D047D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项目关注的不是 App 评比，而是社区运营问题如何被拆解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71B54-193D-4405-9D82-0CAF7C40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同时连接内容、玩家关系、工具服务与平台生态。选择小黑盒与游民星空，是为了把两个游戏社区 / 资讯相关产品放在同一公开数据框架下观察。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2EF1B-EBAC-423C-AA53-EB1B8CD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245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A08CC-C11A-44EE-AA67-376ABF2E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F3197-0F05-4ED6-9FEE-E712B510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67219-0DF1-4A8F-ABFF-5DC90E44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将公开评论、搜索词、下载波动与版本日志转译成运营问题入口，而不是停留在数据罗列。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0245D-0325-43C1-ADF3-8A3F0DE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A7A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54FEB-21DE-47D5-8995-646DB084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48295-CC41-406D-9CB8-0DE8C66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rPr>
              <a:t>为什么选这两个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C677C-9D92-4E80-81E6-8D5C1DB2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二者都与游戏内容和玩家社区高度相关，但公开数据中的切入点不同，适合做社区生态观察。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B4FE1-F303-4D7B-87E4-B7DB546A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E5E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6A066-AB99-410B-9F48-0D8C8375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D1C3C-86AD-43B7-9518-013CF284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480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服务岗位方向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02CDA-694A-42B5-9C91-3709A911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2900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 游戏社区生态运营为主；B 游戏行业运营为辅；C 数据向产品运营为冲刺补充。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EBD1B-8A91-440F-BB3F-66384312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输出目标：让面试官快速理解项目做了什么、四源框架怎么用、三条主线发现如何转化成运营策略。</a:t>
            </a:r>
          </a:p>
        </p:txBody>
      </p:sp>
    </p:spTree>
    <p:extLst>
      <p:ext uri="{BB962C8B-B14F-4D97-AF65-F5344CB8AC3E}">
        <p14:creationId xmlns:p14="http://schemas.microsoft.com/office/powerpoint/2010/main" val="967252968"/>
      </p:ext>
    </p:extLst>
  </p:cSld>
</p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0696A556-CD79-4EA5-93D4-6B547AB358C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2E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F430277D-113A-48AA-8E04-4D40873CA56A}"/>
              </a:ext>
            </a:extLst>
          </ns0:cNvPr>
          <ns0:cNvSpPr>
            <a:spLocks noGrp="1"/>
          </ns0:cNvSpPr>
          <ns0:nvPr/>
        </ns0:nvSpPr>
        <ns0:spPr>
          <a:xfrm>
            <a:off x="609600" y="6057900"/>
            <a:ext cx="9906000" cy="9525"/>
          </a:xfrm>
          <a:prstGeom prst="rect">
            <a:avLst/>
          </a:prstGeom>
          <a:solidFill>
            <a:srgbClr val="D9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FD1692AF-2C94-4B27-A5C6-82344ACC9D09}"/>
              </a:ext>
            </a:extLst>
          </ns0:cNvPr>
          <ns0:cNvSpPr>
            <a:spLocks noGrp="1"/>
          </ns0:cNvSpPr>
          <ns0:nvPr/>
        </ns0:nvSpPr>
        <ns0:spPr>
          <a:xfrm>
            <a:off x="10763250" y="5924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F1D59FDE-340E-4D41-9BE0-AFB033186CC9}"/>
              </a:ext>
            </a:extLst>
          </ns0:cNvPr>
          <ns0:cNvSpPr>
            <a:spLocks noGrp="1"/>
          </ns0:cNvSpPr>
          <ns0:nvPr/>
        </ns0:nvSpPr>
        <ns0:spPr>
          <a:xfrm>
            <a:off x="609600" y="5924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ns0:txBody>
      </ns0:sp>
      <ns0:sp>
        <ns0:nvSpPr>
          <ns0:cNvPr id="5" name="kicker-marker">
            <a:extLst>
              <a:ext uri="{FF2B5EF4-FFF2-40B4-BE49-F238E27FC236}">
                <ns2:creationId id="{CE00F284-5FA2-4A27-AF6B-2F04BDE37123}"/>
              </a:ext>
            </a:extLst>
          </ns0:cNvPr>
          <ns0:cNvSpPr>
            <a:spLocks noGrp="1"/>
          </ns0:cNvSpPr>
          <ns0:nvPr/>
        </ns0:nvSpPr>
        <ns0:spPr>
          <a:xfrm>
            <a:off x="609600" y="438150"/>
            <a:ext cx="85725" cy="85725"/>
          </a:xfrm>
          <a:prstGeom prst="rect">
            <a:avLst/>
          </a:prstGeom>
          <a:solidFill>
            <a:srgbClr val="C2452D"/>
          </a:solidFill>
          <a:ln w="0">
            <a:solidFill>
              <a:srgbClr val="C2452D"/>
            </a:solidFill>
            <a:prstDash val="solid"/>
          </a:ln>
        </ns0:spPr>
      </ns0:sp>
      <ns0:sp>
        <ns0:nvSpPr>
          <ns0:cNvPr id="6" name="kicker-label">
            <a:extLst>
              <a:ext uri="{FF2B5EF4-FFF2-40B4-BE49-F238E27FC236}">
                <ns2:creationId id="{42A8A2E1-F05E-4390-9243-B63713126308}"/>
              </a:ext>
            </a:extLst>
          </ns0:cNvPr>
          <ns0:cNvSpPr>
            <a:spLocks noGrp="1"/>
          </ns0:cNvSpPr>
          <ns0:nvPr/>
        </ns0:nvSpPr>
        <ns0:spPr>
          <a:xfrm>
            <a:off x="781050" y="3524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DATA BOUNDARY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3B00911-7BE4-4306-B85F-B739099A3805}"/>
              </a:ext>
            </a:extLst>
          </ns0:cNvPr>
          <ns0:cNvSpPr>
            <a:spLocks noGrp="1"/>
          </ns0:cNvSpPr>
          <ns0:nvPr/>
        </ns0:nvSpPr>
        <ns0:spPr>
          <a:xfrm>
            <a:off x="609600" y="742950"/>
            <a:ext cx="876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四类公开数据只形成观察链，不能形成因果链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A00FB346-BFB7-4353-A962-FAFB9453800B}"/>
              </a:ext>
            </a:extLst>
          </ns0:cNvPr>
          <ns0:cNvSpPr>
            <a:spLocks noGrp="1"/>
          </ns0:cNvSpPr>
          <ns0:nvPr/>
        </ns0:nvSpPr>
        <ns0:spPr>
          <a:xfrm>
            <a:off x="609600" y="1676400"/>
            <a:ext cx="10287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本展示版保留项目的核心边界：评论仅代表公开样本，搜索指数仅作公开搜索热度观察，七麦下载量仅作第三方估算口径，版本日志不代表完整产品战略。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66C38EE0-ADE8-44C1-9F8E-EF3D60262FE2}"/>
              </a:ext>
            </a:extLst>
          </ns0:cNvPr>
          <ns0:cNvSpPr>
            <a:spLocks noGrp="1"/>
          </ns0:cNvSpPr>
          <ns0:nvPr/>
        </ns0:nvSpPr>
        <ns0:spPr>
          <a:xfrm>
            <a:off x="609600" y="2571750"/>
            <a:ext cx="2381250" cy="1447800"/>
          </a:xfrm>
          <a:prstGeom prst="rect">
            <a:avLst/>
          </a:prstGeom>
          <a:solidFill>
            <a:srgbClr val="FFFDF8"/>
          </a:solidFill>
          <a:ln w="11430">
            <a:solidFill>
              <a:srgbClr val="C2452D"/>
            </a:solidFill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D74B4EBD-F07D-41AF-A389-7D926AEE3E9F}"/>
              </a:ext>
            </a:extLst>
          </ns0:cNvPr>
          <ns0:cNvSpPr>
            <a:spLocks noGrp="1"/>
          </ns0:cNvSpPr>
          <ns0:nvPr/>
        </ns0:nvSpPr>
        <ns0:spPr>
          <a:xfrm>
            <a:off x="781050" y="2743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评论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4140309A-DC63-47FE-A3AA-B11233DABADF}"/>
              </a:ext>
            </a:extLst>
          </ns0:cNvPr>
          <ns0:cNvSpPr>
            <a:spLocks noGrp="1"/>
          </ns0:cNvSpPr>
          <ns0:nvPr/>
        </ns0:nvSpPr>
        <ns0:spPr>
          <a:xfrm>
            <a:off x="781050" y="30861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被动反馈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31A42D7E-B797-4F06-ACFC-C14DFDBFF24D}"/>
              </a:ext>
            </a:extLst>
          </ns0:cNvPr>
          <ns0:cNvSpPr>
            <a:spLocks noGrp="1"/>
          </ns0:cNvSpPr>
          <ns0:nvPr/>
        </ns0:nvSpPr>
        <ns0:spPr>
          <a:xfrm>
            <a:off x="781050" y="337185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观察用户在公开评论中表达的问题入口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ABCF854B-C94D-49E0-A3AC-C2B9EC4F2160}"/>
              </a:ext>
            </a:extLst>
          </ns0:cNvPr>
          <ns0:cNvSpPr>
            <a:spLocks noGrp="1"/>
          </ns0:cNvSpPr>
          <ns0:nvPr/>
        </ns0:nvSpPr>
        <ns0:spPr>
          <a:xfrm>
            <a:off x="3238500" y="2571750"/>
            <a:ext cx="2381250" cy="1447800"/>
          </a:xfrm>
          <a:prstGeom prst="rect">
            <a:avLst/>
          </a:prstGeom>
          <a:solidFill>
            <a:srgbClr val="FFFDF8"/>
          </a:solidFill>
          <a:ln w="11430">
            <a:solidFill>
              <a:srgbClr val="1A7A67"/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BA0270D7-0AD6-4BF4-8218-C29151520B68}"/>
              </a:ext>
            </a:extLst>
          </ns0:cNvPr>
          <ns0:cNvSpPr>
            <a:spLocks noGrp="1"/>
          </ns0:cNvSpPr>
          <ns0:nvPr/>
        </ns0:nvSpPr>
        <ns0:spPr>
          <a:xfrm>
            <a:off x="3409950" y="2743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BE1A8B10-81AA-4725-9293-2E7B82663BFD}"/>
              </a:ext>
            </a:extLst>
          </ns0:cNvPr>
          <ns0:cNvSpPr>
            <a:spLocks noGrp="1"/>
          </ns0:cNvSpPr>
          <ns0:nvPr/>
        </ns0:nvSpPr>
        <ns0:spPr>
          <a:xfrm>
            <a:off x="3409950" y="30861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主动需求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48B79143-928F-4746-AA4F-594B2BEA86C9}"/>
              </a:ext>
            </a:extLst>
          </ns0:cNvPr>
          <ns0:cNvSpPr>
            <a:spLocks noGrp="1"/>
          </ns0:cNvSpPr>
          <ns0:nvPr/>
        </ns0:nvSpPr>
        <ns0:spPr>
          <a:xfrm>
            <a:off x="3409950" y="337185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观察 App Store 搜索场景下的需求线索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E77651DD-D951-4558-B974-09EE7599BDEC}"/>
              </a:ext>
            </a:extLst>
          </ns0:cNvPr>
          <ns0:cNvSpPr>
            <a:spLocks noGrp="1"/>
          </ns0:cNvSpPr>
          <ns0:nvPr/>
        </ns0:nvSpPr>
        <ns0:spPr>
          <a:xfrm>
            <a:off x="5867400" y="2571750"/>
            <a:ext cx="2381250" cy="1447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5E8C"/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7298911D-4A2F-4B96-8C96-19738D53A480}"/>
              </a:ext>
            </a:extLst>
          </ns0:cNvPr>
          <ns0:cNvSpPr>
            <a:spLocks noGrp="1"/>
          </ns0:cNvSpPr>
          <ns0:nvPr/>
        </ns0:nvSpPr>
        <ns0:spPr>
          <a:xfrm>
            <a:off x="6038850" y="2743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下载趋势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47364F00-4FD6-47F9-874E-3F5CAB475DB4}"/>
              </a:ext>
            </a:extLst>
          </ns0:cNvPr>
          <ns0:cNvSpPr>
            <a:spLocks noGrp="1"/>
          </ns0:cNvSpPr>
          <ns0:nvPr/>
        </ns0:nvSpPr>
        <ns0:spPr>
          <a:xfrm>
            <a:off x="6038850" y="30861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结果背景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D414D838-D231-465E-9610-A620F07B2F32}"/>
              </a:ext>
            </a:extLst>
          </ns0:cNvPr>
          <ns0:cNvSpPr>
            <a:spLocks noGrp="1"/>
          </ns0:cNvSpPr>
          <ns0:nvPr/>
        </ns0:nvSpPr>
        <ns0:spPr>
          <a:xfrm>
            <a:off x="6038850" y="337185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观察七麦预估下载的月份级波动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543A93A8-79E2-41E6-AAC4-6FB185C91CB1}"/>
              </a:ext>
            </a:extLst>
          </ns0:cNvPr>
          <ns0:cNvSpPr>
            <a:spLocks noGrp="1"/>
          </ns0:cNvSpPr>
          <ns0:nvPr/>
        </ns0:nvSpPr>
        <ns0:spPr>
          <a:xfrm>
            <a:off x="8496300" y="2571750"/>
            <a:ext cx="2381250" cy="1447800"/>
          </a:xfrm>
          <a:prstGeom prst="rect">
            <a:avLst/>
          </a:prstGeom>
          <a:solidFill>
            <a:srgbClr val="FFFDF8"/>
          </a:solidFill>
          <a:ln w="11430">
            <a:solidFill>
              <a:srgbClr val="B88413"/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735450FB-6C20-4065-84C8-84FCAFDCBFF3}"/>
              </a:ext>
            </a:extLst>
          </ns0:cNvPr>
          <ns0:cNvSpPr>
            <a:spLocks noGrp="1"/>
          </ns0:cNvSpPr>
          <ns0:nvPr/>
        </ns0:nvSpPr>
        <ns0:spPr>
          <a:xfrm>
            <a:off x="8667750" y="2743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B88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8413"/>
                </a:solidFill>
                <a:latin typeface="Microsoft YaHei"/>
                <a:ea typeface="Microsoft YaHei"/>
                <a:cs typeface="Microsoft YaHei"/>
              </a:rPr>
              <a:t>版本节奏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DF0F5EB0-B18B-46DC-8C35-509A2C590A32}"/>
              </a:ext>
            </a:extLst>
          </ns0:cNvPr>
          <ns0:cNvSpPr>
            <a:spLocks noGrp="1"/>
          </ns0:cNvSpPr>
          <ns0:nvPr/>
        </ns0:nvSpPr>
        <ns0:spPr>
          <a:xfrm>
            <a:off x="8667750" y="30861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动作背景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58273B34-249D-4D15-9B93-B563086C9340}"/>
              </a:ext>
            </a:extLst>
          </ns0:cNvPr>
          <ns0:cNvSpPr>
            <a:spLocks noGrp="1"/>
          </ns0:cNvSpPr>
          <ns0:nvPr/>
        </ns0:nvSpPr>
        <ns0:spPr>
          <a:xfrm>
            <a:off x="8667750" y="337185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观察公开版本日志中的更新节奏与动作文本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A33A55C5-A134-4E79-98FD-419BF7720749}"/>
              </a:ext>
            </a:extLst>
          </ns0:cNvPr>
          <ns0:cNvSpPr>
            <a:spLocks noGrp="1"/>
          </ns0:cNvSpPr>
          <ns0:nvPr/>
        </ns0:nvSpPr>
        <ns0:spPr>
          <a:xfrm>
            <a:off x="609600" y="4629150"/>
            <a:ext cx="9906000" cy="666750"/>
          </a:xfrm>
          <a:prstGeom prst="rect">
            <a:avLst/>
          </a:prstGeom>
          <a:solidFill>
            <a:srgbClr val="15212B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6D6985F3-2CD0-4243-8DFA-8F44BE79F398}"/>
              </a:ext>
            </a:extLst>
          </ns0:cNvPr>
          <ns0:cNvSpPr>
            <a:spLocks noGrp="1"/>
          </ns0:cNvSpPr>
          <ns0:nvPr/>
        </ns0:nvSpPr>
        <ns0:spPr>
          <a:xfrm>
            <a:off x="876300" y="4810125"/>
            <a:ext cx="93821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16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安全表述：公开数据下呈现出 / 可作为观察线索 / 值得后续排查 / 暂不能判断因果关系</a:t>
            </a:r>
          </a:p>
        </ns0:txBody>
      </ns0:sp>
    </ns0:spTree>
    <ns0:extLst>
      <ns0:ext uri="{BB962C8B-B14F-4D97-AF65-F5344CB8AC3E}">
        <ns3:creationId val="1674105152"/>
      </ns0:ext>
    </ns0:extLst>
  </ns0:cSld>
</ns0:sld>
</file>

<file path=ppt/slides/slide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C0D1249-0C88-49F2-9A02-4BA107CFC72E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2E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D5EE508E-85CB-425E-81FD-8B6EB5915F1D}"/>
              </a:ext>
            </a:extLst>
          </ns0:cNvPr>
          <ns0:cNvSpPr>
            <a:spLocks noGrp="1"/>
          </ns0:cNvSpPr>
          <ns0:nvPr/>
        </ns0:nvSpPr>
        <ns0:spPr>
          <a:xfrm>
            <a:off x="609600" y="6057900"/>
            <a:ext cx="9906000" cy="9525"/>
          </a:xfrm>
          <a:prstGeom prst="rect">
            <a:avLst/>
          </a:prstGeom>
          <a:solidFill>
            <a:srgbClr val="D9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92C44214-02BF-4026-A0D1-270DF728589C}"/>
              </a:ext>
            </a:extLst>
          </ns0:cNvPr>
          <ns0:cNvSpPr>
            <a:spLocks noGrp="1"/>
          </ns0:cNvSpPr>
          <ns0:nvPr/>
        </ns0:nvSpPr>
        <ns0:spPr>
          <a:xfrm>
            <a:off x="10763250" y="5924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7B21F193-A971-4E7F-9C41-EF60763CAD79}"/>
              </a:ext>
            </a:extLst>
          </ns0:cNvPr>
          <ns0:cNvSpPr>
            <a:spLocks noGrp="1"/>
          </ns0:cNvSpPr>
          <ns0:nvPr/>
        </ns0:nvSpPr>
        <ns0:spPr>
          <a:xfrm>
            <a:off x="609600" y="5924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ns0:txBody>
      </ns0:sp>
      <ns0:sp>
        <ns0:nvSpPr>
          <ns0:cNvPr id="5" name="kicker-marker">
            <a:extLst>
              <a:ext uri="{FF2B5EF4-FFF2-40B4-BE49-F238E27FC236}">
                <ns2:creationId id="{FA5BD98A-B262-4EF1-8840-C080D9A62549}"/>
              </a:ext>
            </a:extLst>
          </ns0:cNvPr>
          <ns0:cNvSpPr>
            <a:spLocks noGrp="1"/>
          </ns0:cNvSpPr>
          <ns0:nvPr/>
        </ns0:nvSpPr>
        <ns0:spPr>
          <a:xfrm>
            <a:off x="609600" y="438150"/>
            <a:ext cx="85725" cy="85725"/>
          </a:xfrm>
          <a:prstGeom prst="rect">
            <a:avLst/>
          </a:prstGeom>
          <a:solidFill>
            <a:srgbClr val="C2452D"/>
          </a:solidFill>
          <a:ln w="0">
            <a:solidFill>
              <a:srgbClr val="C2452D"/>
            </a:solidFill>
            <a:prstDash val="solid"/>
          </a:ln>
        </ns0:spPr>
      </ns0:sp>
      <ns0:sp>
        <ns0:nvSpPr>
          <ns0:cNvPr id="6" name="kicker-label">
            <a:extLst>
              <a:ext uri="{FF2B5EF4-FFF2-40B4-BE49-F238E27FC236}">
                <ns2:creationId id="{4D787481-7B07-43E1-BAA2-52AE844E3B40}"/>
              </a:ext>
            </a:extLst>
          </ns0:cNvPr>
          <ns0:cNvSpPr>
            <a:spLocks noGrp="1"/>
          </ns0:cNvSpPr>
          <ns0:nvPr/>
        </ns0:nvSpPr>
        <ns0:spPr>
          <a:xfrm>
            <a:off x="781050" y="3524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ANALYTIC FRAME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9B91988B-5E9E-4086-83DC-41AAAF2DF83B}"/>
              </a:ext>
            </a:extLst>
          </ns0:cNvPr>
          <ns0:cNvSpPr>
            <a:spLocks noGrp="1"/>
          </ns0:cNvSpPr>
          <ns0:nvPr/>
        </ns0:nvSpPr>
        <ns0:spPr>
          <a:xfrm>
            <a:off x="609600" y="742950"/>
            <a:ext cx="876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四源框架把信号放到同一张观察表，而不是串成效果判断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8092535-7828-45F2-8E88-A0217F0D33A5}"/>
              </a:ext>
            </a:extLst>
          </ns0:cNvPr>
          <ns0:cNvSpPr>
            <a:spLocks noGrp="1"/>
          </ns0:cNvSpPr>
          <ns0:nvPr/>
        </ns0:nvSpPr>
        <ns0:spPr>
          <a:xfrm>
            <a:off x="819150" y="1952625"/>
            <a:ext cx="4476750" cy="1333500"/>
          </a:xfrm>
          <a:prstGeom prst="rect">
            <a:avLst/>
          </a:prstGeom>
          <a:solidFill>
            <a:srgbClr val="FFFDF8"/>
          </a:solidFill>
          <a:ln w="11430">
            <a:solidFill>
              <a:srgbClr val="C2452D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BADA39AC-C044-47D5-937D-BE3A67B66287}"/>
              </a:ext>
            </a:extLst>
          </ns0:cNvPr>
          <ns0:cNvSpPr>
            <a:spLocks noGrp="1"/>
          </ns0:cNvSpPr>
          <ns0:nvPr/>
        </ns0:nvSpPr>
        <ns0:spPr>
          <a:xfrm>
            <a:off x="1047750" y="2124075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1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评论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321EE2DA-317C-427A-98E7-E14C6785A6B6}"/>
              </a:ext>
            </a:extLst>
          </ns0:cNvPr>
          <ns0:cNvSpPr>
            <a:spLocks noGrp="1"/>
          </ns0:cNvSpPr>
          <ns0:nvPr/>
        </ns0:nvSpPr>
        <ns0:spPr>
          <a:xfrm>
            <a:off x="1047750" y="250507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被动反馈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F31427C0-1C52-4381-A944-2146C3FEDB4B}"/>
              </a:ext>
            </a:extLst>
          </ns0:cNvPr>
          <ns0:cNvSpPr>
            <a:spLocks noGrp="1"/>
          </ns0:cNvSpPr>
          <ns0:nvPr/>
        </ns0:nvSpPr>
        <ns0:spPr>
          <a:xfrm>
            <a:off x="1047750" y="2828925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用户在抱怨什么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A72EAAD4-9B0F-4650-AA4D-482587654FA6}"/>
              </a:ext>
            </a:extLst>
          </ns0:cNvPr>
          <ns0:cNvSpPr>
            <a:spLocks noGrp="1"/>
          </ns0:cNvSpPr>
          <ns0:nvPr/>
        </ns0:nvSpPr>
        <ns0:spPr>
          <a:xfrm>
            <a:off x="6334125" y="1952625"/>
            <a:ext cx="4476750" cy="1333500"/>
          </a:xfrm>
          <a:prstGeom prst="rect">
            <a:avLst/>
          </a:prstGeom>
          <a:solidFill>
            <a:srgbClr val="FFFDF8"/>
          </a:solidFill>
          <a:ln w="11430">
            <a:solidFill>
              <a:srgbClr val="1A7A67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FEECE5E0-CF42-4908-A521-A4908320DD10}"/>
              </a:ext>
            </a:extLst>
          </ns0:cNvPr>
          <ns0:cNvSpPr>
            <a:spLocks noGrp="1"/>
          </ns0:cNvSpPr>
          <ns0:nvPr/>
        </ns0:nvSpPr>
        <ns0:spPr>
          <a:xfrm>
            <a:off x="6562725" y="2124075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1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6BCB8273-A501-4579-8B91-104A683E4957}"/>
              </a:ext>
            </a:extLst>
          </ns0:cNvPr>
          <ns0:cNvSpPr>
            <a:spLocks noGrp="1"/>
          </ns0:cNvSpPr>
          <ns0:nvPr/>
        </ns0:nvSpPr>
        <ns0:spPr>
          <a:xfrm>
            <a:off x="6562725" y="250507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主动需求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3CC794E8-59E4-435B-A669-9D26A01C9157}"/>
              </a:ext>
            </a:extLst>
          </ns0:cNvPr>
          <ns0:cNvSpPr>
            <a:spLocks noGrp="1"/>
          </ns0:cNvSpPr>
          <ns0:nvPr/>
        </ns0:nvSpPr>
        <ns0:spPr>
          <a:xfrm>
            <a:off x="6562725" y="2828925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用户在寻找什么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4228B784-6A7A-472C-8CB9-58E65E54C058}"/>
              </a:ext>
            </a:extLst>
          </ns0:cNvPr>
          <ns0:cNvSpPr>
            <a:spLocks noGrp="1"/>
          </ns0:cNvSpPr>
          <ns0:nvPr/>
        </ns0:nvSpPr>
        <ns0:spPr>
          <a:xfrm>
            <a:off x="819150" y="3952875"/>
            <a:ext cx="4476750" cy="13335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5E8C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84C8310F-33FE-4C63-8539-3CA18AF67B17}"/>
              </a:ext>
            </a:extLst>
          </ns0:cNvPr>
          <ns0:cNvSpPr>
            <a:spLocks noGrp="1"/>
          </ns0:cNvSpPr>
          <ns0:nvPr/>
        </ns0:nvSpPr>
        <ns0:spPr>
          <a:xfrm>
            <a:off x="1047750" y="4124325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1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下载趋势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0C34B5E0-B8E3-4295-BB13-0FE8D4C151D7}"/>
              </a:ext>
            </a:extLst>
          </ns0:cNvPr>
          <ns0:cNvSpPr>
            <a:spLocks noGrp="1"/>
          </ns0:cNvSpPr>
          <ns0:nvPr/>
        </ns0:nvSpPr>
        <ns0:spPr>
          <a:xfrm>
            <a:off x="1047750" y="45053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结果背景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6C35A92-9527-4F2B-8A90-829BB27B32FF}"/>
              </a:ext>
            </a:extLst>
          </ns0:cNvPr>
          <ns0:cNvSpPr>
            <a:spLocks noGrp="1"/>
          </ns0:cNvSpPr>
          <ns0:nvPr/>
        </ns0:nvSpPr>
        <ns0:spPr>
          <a:xfrm>
            <a:off x="1047750" y="4829175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波动出现在哪些月份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C7DB0003-95C8-4F54-BE69-B1806B9FF79F}"/>
              </a:ext>
            </a:extLst>
          </ns0:cNvPr>
          <ns0:cNvSpPr>
            <a:spLocks noGrp="1"/>
          </ns0:cNvSpPr>
          <ns0:nvPr/>
        </ns0:nvSpPr>
        <ns0:spPr>
          <a:xfrm>
            <a:off x="6334125" y="3952875"/>
            <a:ext cx="4476750" cy="1333500"/>
          </a:xfrm>
          <a:prstGeom prst="rect">
            <a:avLst/>
          </a:prstGeom>
          <a:solidFill>
            <a:srgbClr val="FFFDF8"/>
          </a:solidFill>
          <a:ln w="11430">
            <a:solidFill>
              <a:srgbClr val="B88413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97AB16DF-6676-41AB-AA3E-65FC01975604}"/>
              </a:ext>
            </a:extLst>
          </ns0:cNvPr>
          <ns0:cNvSpPr>
            <a:spLocks noGrp="1"/>
          </ns0:cNvSpPr>
          <ns0:nvPr/>
        </ns0:nvSpPr>
        <ns0:spPr>
          <a:xfrm>
            <a:off x="6562725" y="4124325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100" b="1">
                <a:solidFill>
                  <a:srgbClr val="B88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8413"/>
                </a:solidFill>
                <a:latin typeface="Microsoft YaHei"/>
                <a:ea typeface="Microsoft YaHei"/>
                <a:cs typeface="Microsoft YaHei"/>
              </a:rPr>
              <a:t>版本节奏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F02A9A29-E7C2-4C63-A0D6-E27F4B81892D}"/>
              </a:ext>
            </a:extLst>
          </ns0:cNvPr>
          <ns0:cNvSpPr>
            <a:spLocks noGrp="1"/>
          </ns0:cNvSpPr>
          <ns0:nvPr/>
        </ns0:nvSpPr>
        <ns0:spPr>
          <a:xfrm>
            <a:off x="6562725" y="45053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动作背景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839E34B5-2AAD-4ECA-A7DE-8A2C1AD20B89}"/>
              </a:ext>
            </a:extLst>
          </ns0:cNvPr>
          <ns0:cNvSpPr>
            <a:spLocks noGrp="1"/>
          </ns0:cNvSpPr>
          <ns0:nvPr/>
        </ns0:nvSpPr>
        <ns0:spPr>
          <a:xfrm>
            <a:off x="6562725" y="4829175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公开日志出现什么动作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074A2FF4-8AD5-4E12-981B-E7BFC3F1CD10}"/>
              </a:ext>
            </a:extLst>
          </ns0:cNvPr>
          <ns0:cNvSpPr>
            <a:spLocks noGrp="1"/>
          </ns0:cNvSpPr>
          <ns0:nvPr/>
        </ns0:nvSpPr>
        <ns0:spPr>
          <a:xfrm>
            <a:off x="5314950" y="2619375"/>
            <a:ext cx="685800" cy="19050"/>
          </a:xfrm>
          <a:prstGeom prst="rect">
            <a:avLst/>
          </a:prstGeom>
          <a:solidFill>
            <a:srgbClr val="D7CCC0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E3769E77-37AB-4B92-A00D-1A088D657500}"/>
              </a:ext>
            </a:extLst>
          </ns0:cNvPr>
          <ns0:cNvSpPr>
            <a:spLocks noGrp="1"/>
          </ns0:cNvSpPr>
          <ns0:nvPr/>
        </ns0:nvSpPr>
        <ns0:spPr>
          <a:xfrm>
            <a:off x="5314950" y="4619625"/>
            <a:ext cx="685800" cy="19050"/>
          </a:xfrm>
          <a:prstGeom prst="rect">
            <a:avLst/>
          </a:prstGeom>
          <a:solidFill>
            <a:srgbClr val="D7CCC0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9560E9BD-334A-447B-BA1A-15362FD62E92}"/>
              </a:ext>
            </a:extLst>
          </ns0:cNvPr>
          <ns0:cNvSpPr>
            <a:spLocks noGrp="1"/>
          </ns0:cNvSpPr>
          <ns0:nvPr/>
        </ns0:nvSpPr>
        <ns0:spPr>
          <a:xfrm>
            <a:off x="5591175" y="3238500"/>
            <a:ext cx="66675" cy="628650"/>
          </a:xfrm>
          <a:prstGeom prst="rect">
            <a:avLst/>
          </a:prstGeom>
          <a:solidFill>
            <a:srgbClr val="D7CCC0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BCEFF426-B75D-45A8-806B-0AA06E84D136}"/>
              </a:ext>
            </a:extLst>
          </ns0:cNvPr>
          <ns0:cNvSpPr>
            <a:spLocks noGrp="1"/>
          </ns0:cNvSpPr>
          <ns0:nvPr/>
        </ns0:nvSpPr>
        <ns0:spPr>
          <a:xfrm>
            <a:off x="609600" y="5467350"/>
            <a:ext cx="9906000" cy="400050"/>
          </a:xfrm>
          <a:prstGeom prst="rect">
            <a:avLst/>
          </a:prstGeom>
          <a:solidFill>
            <a:srgbClr val="E7F2ED"/>
          </a:solidFill>
          <a:ln w="9525">
            <a:solidFill>
              <a:srgbClr val="1A7A67"/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08122871-A66B-47C5-B425-5D8210AC7DB2}"/>
              </a:ext>
            </a:extLst>
          </ns0:cNvPr>
          <ns0:cNvSpPr>
            <a:spLocks noGrp="1"/>
          </ns0:cNvSpPr>
          <ns0:nvPr/>
        </ns0:nvSpPr>
        <ns0:spPr>
          <a:xfrm>
            <a:off x="876300" y="5562600"/>
            <a:ext cx="937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65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rPr>
              <a:t>最终沉淀为 3 条主线发现 + 1 条辅助主线 + 4 类运营策略</a:t>
            </a:r>
          </a:p>
        </ns0:txBody>
      </ns0:sp>
    </ns0:spTree>
    <ns0:extLst>
      <ns0:ext uri="{BB962C8B-B14F-4D97-AF65-F5344CB8AC3E}">
        <ns3:creationId val="740352748"/>
      </ns0:ext>
    </ns0:extLst>
  </ns0:cSld>
</ns0:sld>
</file>

<file path=ppt/slides/slide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5D47B599-28E4-4662-8F14-A6317176C4BC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2E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ACFBD892-B251-4B24-8320-4A4E05D5C1D0}"/>
              </a:ext>
            </a:extLst>
          </ns0:cNvPr>
          <ns0:cNvSpPr>
            <a:spLocks noGrp="1"/>
          </ns0:cNvSpPr>
          <ns0:nvPr/>
        </ns0:nvSpPr>
        <ns0:spPr>
          <a:xfrm>
            <a:off x="609600" y="6057900"/>
            <a:ext cx="9906000" cy="9525"/>
          </a:xfrm>
          <a:prstGeom prst="rect">
            <a:avLst/>
          </a:prstGeom>
          <a:solidFill>
            <a:srgbClr val="D9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079B6799-3D31-4A6C-85A2-A1DD8134CBC2}"/>
              </a:ext>
            </a:extLst>
          </ns0:cNvPr>
          <ns0:cNvSpPr>
            <a:spLocks noGrp="1"/>
          </ns0:cNvSpPr>
          <ns0:nvPr/>
        </ns0:nvSpPr>
        <ns0:spPr>
          <a:xfrm>
            <a:off x="10763250" y="5924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FCEFEB6-9E8D-4764-A74F-6CAE1FF65206}"/>
              </a:ext>
            </a:extLst>
          </ns0:cNvPr>
          <ns0:cNvSpPr>
            <a:spLocks noGrp="1"/>
          </ns0:cNvSpPr>
          <ns0:nvPr/>
        </ns0:nvSpPr>
        <ns0:spPr>
          <a:xfrm>
            <a:off x="609600" y="5924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ns0:txBody>
      </ns0:sp>
      <ns0:sp>
        <ns0:nvSpPr>
          <ns0:cNvPr id="5" name="kicker-marker">
            <a:extLst>
              <a:ext uri="{FF2B5EF4-FFF2-40B4-BE49-F238E27FC236}">
                <ns2:creationId id="{90896490-56BC-45EC-908C-C55FD7954D24}"/>
              </a:ext>
            </a:extLst>
          </ns0:cNvPr>
          <ns0:cNvSpPr>
            <a:spLocks noGrp="1"/>
          </ns0:cNvSpPr>
          <ns0:nvPr/>
        </ns0:nvSpPr>
        <ns0:spPr>
          <a:xfrm>
            <a:off x="609600" y="438150"/>
            <a:ext cx="85725" cy="85725"/>
          </a:xfrm>
          <a:prstGeom prst="rect">
            <a:avLst/>
          </a:prstGeom>
          <a:solidFill>
            <a:srgbClr val="C2452D"/>
          </a:solidFill>
          <a:ln w="0">
            <a:solidFill>
              <a:srgbClr val="C2452D"/>
            </a:solidFill>
            <a:prstDash val="solid"/>
          </a:ln>
        </ns0:spPr>
      </ns0:sp>
      <ns0:sp>
        <ns0:nvSpPr>
          <ns0:cNvPr id="6" name="kicker-label">
            <a:extLst>
              <a:ext uri="{FF2B5EF4-FFF2-40B4-BE49-F238E27FC236}">
                <ns2:creationId id="{006BA974-FE3B-4A0B-969E-ECCDF366D0EF}"/>
              </a:ext>
            </a:extLst>
          </ns0:cNvPr>
          <ns0:cNvSpPr>
            <a:spLocks noGrp="1"/>
          </ns0:cNvSpPr>
          <ns0:nvPr/>
        </ns0:nvSpPr>
        <ns0:spPr>
          <a:xfrm>
            <a:off x="781050" y="3524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MAINLINE 01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33FC7E9-2AA7-4DDF-B7C8-45D8C92DD721}"/>
              </a:ext>
            </a:extLst>
          </ns0:cNvPr>
          <ns0:cNvSpPr>
            <a:spLocks noGrp="1"/>
          </ns0:cNvSpPr>
          <ns0:nvPr/>
        </ns0:nvSpPr>
        <ns0:spPr>
          <a:xfrm>
            <a:off x="609600" y="72390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负向评论先拆成问题池，再进入反馈闭环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8738D66-E040-48CA-98B5-AE41579B5117}"/>
              </a:ext>
            </a:extLst>
          </ns0:cNvPr>
          <ns0:cNvSpPr>
            <a:spLocks noGrp="1"/>
          </ns0:cNvSpPr>
          <ns0:nvPr/>
        </ns0:nvSpPr>
        <ns0:spPr>
          <a:xfrm>
            <a:off x="609600" y="1676400"/>
            <a:ext cx="65722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CC0"/>
            </a:solidFill>
            <a:prstDash val="solid"/>
          </a:ln>
        </ns0:spPr>
      </ns0:sp>
      <ns0:pic>
        <ns0:nvPicPr>
          <ns0:cNvPr id="9" name=""/>
          <ns0:cNvPicPr>
            <a:picLocks noChangeAspect="1"/>
          </ns0:cNvPicPr>
          <ns0:nvPr/>
        </ns0:nvPicPr>
        <ns0:blipFill>
          <a:blip ns3:embed="Rf5f65092f08c4c1b"/>
          <a:stretch/>
        </ns0:blipFill>
        <ns0:spPr>
          <a:xfrm>
            <a:off x="1351189" y="1847850"/>
            <a:ext cx="5089071" cy="3562350"/>
          </a:xfrm>
          <a:prstGeom prst="rect">
            <a:avLst/>
          </a:prstGeom>
        </ns0:spPr>
      </ns0:pic>
      <ns0:sp>
        <ns0:nvSpPr>
          <ns0:cNvPr id="10" name="">
            <a:extLst>
              <a:ext uri="{FF2B5EF4-FFF2-40B4-BE49-F238E27FC236}">
                <ns2:creationId id="{A7CB200E-9ABA-47D1-B345-C7B4DAC8F58E}"/>
              </a:ext>
            </a:extLst>
          </ns0:cNvPr>
          <ns0:cNvSpPr>
            <a:spLocks noGrp="1"/>
          </ns0:cNvSpPr>
          <ns0:nvPr/>
        </ns0:nvSpPr>
        <ns0:spPr>
          <a:xfrm>
            <a:off x="7543800" y="1790700"/>
            <a:ext cx="3238500" cy="24955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5E8C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4858D9CA-07B3-4805-8E47-F60286835348}"/>
              </a:ext>
            </a:extLst>
          </ns0:cNvPr>
          <ns0:cNvSpPr>
            <a:spLocks noGrp="1"/>
          </ns0:cNvSpPr>
          <ns0:nvPr/>
        </ns0:nvSpPr>
        <ns0:spPr>
          <a:xfrm>
            <a:off x="7543800" y="1790700"/>
            <a:ext cx="66675" cy="2495550"/>
          </a:xfrm>
          <a:prstGeom prst="rect">
            <a:avLst/>
          </a:prstGeom>
          <a:solidFill>
            <a:srgbClr val="2E5E8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ECC12B11-42E9-4AD2-9FA3-DA222A0C0D45}"/>
              </a:ext>
            </a:extLst>
          </ns0:cNvPr>
          <ns0:cNvSpPr>
            <a:spLocks noGrp="1"/>
          </ns0:cNvSpPr>
          <ns0:nvPr/>
        </ns0:nvSpPr>
        <ns0:spPr>
          <a:xfrm>
            <a:off x="7753350" y="1962150"/>
            <a:ext cx="2819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评论侧观察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9B0786C8-F101-423A-8955-3DF4CE64FD67}"/>
              </a:ext>
            </a:extLst>
          </ns0:cNvPr>
          <ns0:cNvSpPr>
            <a:spLocks noGrp="1"/>
          </ns0:cNvSpPr>
          <ns0:nvPr/>
        </ns0:nvSpPr>
        <ns0:spPr>
          <a:xfrm>
            <a:off x="7753350" y="2343150"/>
            <a:ext cx="28194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小黑盒负向评论样本 338 条，仅代表公开评论样本。</a:t>
            </a:r>
          </a:p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具体问题类中，社区氛围与治理 54 条，功能体验与产品设计 50 条，客服与反馈处理 41 条。</a:t>
            </a:r>
          </a:p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适合转译为：可直接回复、需补充信息、需产品协同、需长期观察。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69FF6DCC-F461-4419-A6A0-AC087F21180C}"/>
              </a:ext>
            </a:extLst>
          </ns0:cNvPr>
          <ns0:cNvSpPr>
            <a:spLocks noGrp="1"/>
          </ns0:cNvSpPr>
          <ns0:nvPr/>
        </ns0:nvSpPr>
        <ns0:spPr>
          <a:xfrm>
            <a:off x="7543800" y="4495800"/>
            <a:ext cx="3238500" cy="552450"/>
          </a:xfrm>
          <a:prstGeom prst="rect">
            <a:avLst/>
          </a:prstGeom>
          <a:solidFill>
            <a:srgbClr val="F5EBD3"/>
          </a:solidFill>
          <a:ln w="9525">
            <a:solidFill>
              <a:srgbClr val="B88413"/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B52A7D58-6236-45A1-BA17-03ED745E997D}"/>
              </a:ext>
            </a:extLst>
          </ns0:cNvPr>
          <ns0:cNvSpPr>
            <a:spLocks noGrp="1"/>
          </ns0:cNvSpPr>
          <ns0:nvPr/>
        </ns0:nvSpPr>
        <ns0:spPr>
          <a:xfrm>
            <a:off x="7734300" y="46577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代表性公开评论中出现“举报后缺少处理反馈”的表达。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34C49132-C029-4F65-8550-1194AD93CD2D}"/>
              </a:ext>
            </a:extLst>
          </ns0:cNvPr>
          <ns0:cNvSpPr>
            <a:spLocks noGrp="1"/>
          </ns0:cNvSpPr>
          <ns0:nvPr/>
        </ns0:nvSpPr>
        <ns0:spPr>
          <a:xfrm>
            <a:off x="7543800" y="5219700"/>
            <a:ext cx="3238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不写成真实问题发生率，也不外推为全体用户态度。</a:t>
            </a:r>
          </a:p>
        </ns0:txBody>
      </ns0:sp>
    </ns0:spTree>
    <ns0:extLst>
      <ns0:ext uri="{BB962C8B-B14F-4D97-AF65-F5344CB8AC3E}">
        <ns4:creationId val="790565825"/>
      </ns0:ext>
    </ns0:extLst>
  </ns0:cSld>
</ns0:sld>
</file>

<file path=ppt/slides/slide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7D108E9A-125F-4493-93C4-1E8C8B20D58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2E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F12525EF-C668-48DB-9201-694F8FEFA7C4}"/>
              </a:ext>
            </a:extLst>
          </ns0:cNvPr>
          <ns0:cNvSpPr>
            <a:spLocks noGrp="1"/>
          </ns0:cNvSpPr>
          <ns0:nvPr/>
        </ns0:nvSpPr>
        <ns0:spPr>
          <a:xfrm>
            <a:off x="609600" y="6057900"/>
            <a:ext cx="9906000" cy="9525"/>
          </a:xfrm>
          <a:prstGeom prst="rect">
            <a:avLst/>
          </a:prstGeom>
          <a:solidFill>
            <a:srgbClr val="D9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0A505707-57D6-43DF-BE89-AEE58D2C1AC2}"/>
              </a:ext>
            </a:extLst>
          </ns0:cNvPr>
          <ns0:cNvSpPr>
            <a:spLocks noGrp="1"/>
          </ns0:cNvSpPr>
          <ns0:nvPr/>
        </ns0:nvSpPr>
        <ns0:spPr>
          <a:xfrm>
            <a:off x="10763250" y="5924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D4161F18-12CC-4C5E-86A0-A073262A55CA}"/>
              </a:ext>
            </a:extLst>
          </ns0:cNvPr>
          <ns0:cNvSpPr>
            <a:spLocks noGrp="1"/>
          </ns0:cNvSpPr>
          <ns0:nvPr/>
        </ns0:nvSpPr>
        <ns0:spPr>
          <a:xfrm>
            <a:off x="609600" y="5924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ns0:txBody>
      </ns0:sp>
      <ns0:sp>
        <ns0:nvSpPr>
          <ns0:cNvPr id="5" name="kicker-marker">
            <a:extLst>
              <a:ext uri="{FF2B5EF4-FFF2-40B4-BE49-F238E27FC236}">
                <ns2:creationId id="{B2EFA0F3-DB60-49F9-9804-E21AB08A6109}"/>
              </a:ext>
            </a:extLst>
          </ns0:cNvPr>
          <ns0:cNvSpPr>
            <a:spLocks noGrp="1"/>
          </ns0:cNvSpPr>
          <ns0:nvPr/>
        </ns0:nvSpPr>
        <ns0:spPr>
          <a:xfrm>
            <a:off x="609600" y="438150"/>
            <a:ext cx="85725" cy="85725"/>
          </a:xfrm>
          <a:prstGeom prst="rect">
            <a:avLst/>
          </a:prstGeom>
          <a:solidFill>
            <a:srgbClr val="C2452D"/>
          </a:solidFill>
          <a:ln w="0">
            <a:solidFill>
              <a:srgbClr val="C2452D"/>
            </a:solidFill>
            <a:prstDash val="solid"/>
          </a:ln>
        </ns0:spPr>
      </ns0:sp>
      <ns0:sp>
        <ns0:nvSpPr>
          <ns0:cNvPr id="6" name="kicker-label">
            <a:extLst>
              <a:ext uri="{FF2B5EF4-FFF2-40B4-BE49-F238E27FC236}">
                <ns2:creationId id="{F47279E2-4673-46BB-9384-CE77B9AD60D6}"/>
              </a:ext>
            </a:extLst>
          </ns0:cNvPr>
          <ns0:cNvSpPr>
            <a:spLocks noGrp="1"/>
          </ns0:cNvSpPr>
          <ns0:nvPr/>
        </ns0:nvSpPr>
        <ns0:spPr>
          <a:xfrm>
            <a:off x="781050" y="3524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MAINLINE 02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94648CB6-D0CE-4F3B-A35F-8FECA09D64EA}"/>
              </a:ext>
            </a:extLst>
          </ns0:cNvPr>
          <ns0:cNvSpPr>
            <a:spLocks noGrp="1"/>
          </ns0:cNvSpPr>
          <ns0:nvPr/>
        </ns0:nvSpPr>
        <ns0:spPr>
          <a:xfrm>
            <a:off x="609600" y="72390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内容供给主证据来自关键词，而不是强行引用评论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D72927CE-8189-4CBE-8AAE-807496729308}"/>
              </a:ext>
            </a:extLst>
          </ns0:cNvPr>
          <ns0:cNvSpPr>
            <a:spLocks noGrp="1"/>
          </ns0:cNvSpPr>
          <ns0:nvPr/>
        </ns0:nvSpPr>
        <ns0:spPr>
          <a:xfrm>
            <a:off x="609600" y="1676400"/>
            <a:ext cx="65722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CC0"/>
            </a:solidFill>
            <a:prstDash val="solid"/>
          </a:ln>
        </ns0:spPr>
      </ns0:sp>
      <ns0:pic>
        <ns0:nvPicPr>
          <ns0:cNvPr id="9" name=""/>
          <ns0:cNvPicPr>
            <a:picLocks noChangeAspect="1"/>
          </ns0:cNvPicPr>
          <ns0:nvPr/>
        </ns0:nvPicPr>
        <ns0:blipFill>
          <a:blip ns3:embed="R3c7a21ae027c4edb"/>
          <a:stretch/>
        </ns0:blipFill>
        <ns0:spPr>
          <a:xfrm>
            <a:off x="1223963" y="1847850"/>
            <a:ext cx="5343525" cy="3562350"/>
          </a:xfrm>
          <a:prstGeom prst="rect">
            <a:avLst/>
          </a:prstGeom>
        </ns0:spPr>
      </ns0:pic>
      <ns0:sp>
        <ns0:nvSpPr>
          <ns0:cNvPr id="10" name="">
            <a:extLst>
              <a:ext uri="{FF2B5EF4-FFF2-40B4-BE49-F238E27FC236}">
                <ns2:creationId id="{F1FD998A-C8B0-4F8C-A956-8787C6ADA46D}"/>
              </a:ext>
            </a:extLst>
          </ns0:cNvPr>
          <ns0:cNvSpPr>
            <a:spLocks noGrp="1"/>
          </ns0:cNvSpPr>
          <ns0:nvPr/>
        </ns0:nvSpPr>
        <ns0:spPr>
          <a:xfrm>
            <a:off x="7543800" y="1790700"/>
            <a:ext cx="3238500" cy="24955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5E8C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768620D4-EEB2-4C65-A351-BEC91D1A914B}"/>
              </a:ext>
            </a:extLst>
          </ns0:cNvPr>
          <ns0:cNvSpPr>
            <a:spLocks noGrp="1"/>
          </ns0:cNvSpPr>
          <ns0:nvPr/>
        </ns0:nvSpPr>
        <ns0:spPr>
          <a:xfrm>
            <a:off x="7543800" y="1790700"/>
            <a:ext cx="66675" cy="2495550"/>
          </a:xfrm>
          <a:prstGeom prst="rect">
            <a:avLst/>
          </a:prstGeom>
          <a:solidFill>
            <a:srgbClr val="2E5E8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59CE9D7B-27BC-4BA3-A9B4-80BF501A8082}"/>
              </a:ext>
            </a:extLst>
          </ns0:cNvPr>
          <ns0:cNvSpPr>
            <a:spLocks noGrp="1"/>
          </ns0:cNvSpPr>
          <ns0:nvPr/>
        </ns0:nvSpPr>
        <ns0:spPr>
          <a:xfrm>
            <a:off x="7753350" y="1962150"/>
            <a:ext cx="2819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关键词侧观察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803EC021-70D6-4D5E-964C-21597690978C}"/>
              </a:ext>
            </a:extLst>
          </ns0:cNvPr>
          <ns0:cNvSpPr>
            <a:spLocks noGrp="1"/>
          </ns0:cNvSpPr>
          <ns0:nvPr/>
        </ns0:nvSpPr>
        <ns0:spPr>
          <a:xfrm>
            <a:off x="7753350" y="2343150"/>
            <a:ext cx="28194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热点游戏 / IP 词 85 个，攻略资讯词 4 个。</a:t>
            </a:r>
          </a:p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代表词包括：永劫无间、永劫无间手游、瓦罗兰特、无畏契约、荒野大镖客、塞尔达。</a:t>
            </a:r>
          </a:p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可转译为热点追踪、攻略专题、资讯聚合、社区话题与跨平台内容分发线索。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869FCCE9-01A9-492A-9DB5-186E82EFF6DD}"/>
              </a:ext>
            </a:extLst>
          </ns0:cNvPr>
          <ns0:cNvSpPr>
            <a:spLocks noGrp="1"/>
          </ns0:cNvSpPr>
          <ns0:nvPr/>
        </ns0:nvSpPr>
        <ns0:spPr>
          <a:xfrm>
            <a:off x="7543800" y="5219700"/>
            <a:ext cx="3238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搜索指数只作为 App Store 公开搜索热度观察，不等同站外流量或用户规模。</a:t>
            </a:r>
          </a:p>
        </ns0:txBody>
      </ns0:sp>
    </ns0:spTree>
    <ns0:extLst>
      <ns0:ext uri="{BB962C8B-B14F-4D97-AF65-F5344CB8AC3E}">
        <ns4:creationId val="909311593"/>
      </ns0:ext>
    </ns0:extLst>
  </ns0:cSld>
</ns0:sld>
</file>

<file path=ppt/slides/slide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F7DD837-CC11-43EB-ABF2-F1E8557AB89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2E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E0E64296-AAA8-4C30-95E2-A1CEAACF6E18}"/>
              </a:ext>
            </a:extLst>
          </ns0:cNvPr>
          <ns0:cNvSpPr>
            <a:spLocks noGrp="1"/>
          </ns0:cNvSpPr>
          <ns0:nvPr/>
        </ns0:nvSpPr>
        <ns0:spPr>
          <a:xfrm>
            <a:off x="609600" y="6057900"/>
            <a:ext cx="9906000" cy="9525"/>
          </a:xfrm>
          <a:prstGeom prst="rect">
            <a:avLst/>
          </a:prstGeom>
          <a:solidFill>
            <a:srgbClr val="D9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6A9DAEF9-B9B4-47CE-9801-90B937A10215}"/>
              </a:ext>
            </a:extLst>
          </ns0:cNvPr>
          <ns0:cNvSpPr>
            <a:spLocks noGrp="1"/>
          </ns0:cNvSpPr>
          <ns0:nvPr/>
        </ns0:nvSpPr>
        <ns0:spPr>
          <a:xfrm>
            <a:off x="10763250" y="5924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42CBE554-D3CF-4041-B393-D8AA022107C6}"/>
              </a:ext>
            </a:extLst>
          </ns0:cNvPr>
          <ns0:cNvSpPr>
            <a:spLocks noGrp="1"/>
          </ns0:cNvSpPr>
          <ns0:nvPr/>
        </ns0:nvSpPr>
        <ns0:spPr>
          <a:xfrm>
            <a:off x="609600" y="5924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ns0:txBody>
      </ns0:sp>
      <ns0:sp>
        <ns0:nvSpPr>
          <ns0:cNvPr id="5" name="kicker-marker">
            <a:extLst>
              <a:ext uri="{FF2B5EF4-FFF2-40B4-BE49-F238E27FC236}">
                <ns2:creationId id="{B1831592-1CED-4D22-8BE2-218E7F45C4BE}"/>
              </a:ext>
            </a:extLst>
          </ns0:cNvPr>
          <ns0:cNvSpPr>
            <a:spLocks noGrp="1"/>
          </ns0:cNvSpPr>
          <ns0:nvPr/>
        </ns0:nvSpPr>
        <ns0:spPr>
          <a:xfrm>
            <a:off x="609600" y="438150"/>
            <a:ext cx="85725" cy="85725"/>
          </a:xfrm>
          <a:prstGeom prst="rect">
            <a:avLst/>
          </a:prstGeom>
          <a:solidFill>
            <a:srgbClr val="C2452D"/>
          </a:solidFill>
          <a:ln w="0">
            <a:solidFill>
              <a:srgbClr val="C2452D"/>
            </a:solidFill>
            <a:prstDash val="solid"/>
          </a:ln>
        </ns0:spPr>
      </ns0:sp>
      <ns0:sp>
        <ns0:nvSpPr>
          <ns0:cNvPr id="6" name="kicker-label">
            <a:extLst>
              <a:ext uri="{FF2B5EF4-FFF2-40B4-BE49-F238E27FC236}">
                <ns2:creationId id="{B1BFC514-136C-41A6-AE40-5997ECAC2231}"/>
              </a:ext>
            </a:extLst>
          </ns0:cNvPr>
          <ns0:cNvSpPr>
            <a:spLocks noGrp="1"/>
          </ns0:cNvSpPr>
          <ns0:nvPr/>
        </ns0:nvSpPr>
        <ns0:spPr>
          <a:xfrm>
            <a:off x="781050" y="3524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MAINLINE 03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D487ED7-E1A0-4AA6-812C-43AD25FCBF0A}"/>
              </a:ext>
            </a:extLst>
          </ns0:cNvPr>
          <ns0:cNvSpPr>
            <a:spLocks noGrp="1"/>
          </ns0:cNvSpPr>
          <ns0:nvPr/>
        </ns0:nvSpPr>
        <ns0:spPr>
          <a:xfrm>
            <a:off x="609600" y="742950"/>
            <a:ext cx="876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社区氛围与治理最贴近 A 岗位，但证据强度需保持中等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CA4244E-FB4A-4FF3-87FE-425AB8B803D5}"/>
              </a:ext>
            </a:extLst>
          </ns0:cNvPr>
          <ns0:cNvSpPr>
            <a:spLocks noGrp="1"/>
          </ns0:cNvSpPr>
          <ns0:nvPr/>
        </ns0:nvSpPr>
        <ns0:spPr>
          <a:xfrm>
            <a:off x="609600" y="1657350"/>
            <a:ext cx="9906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评论侧出现社区氛围与治理问题，关键词侧出现社区、论坛、玩家社区等主动搜索词。二者可以交叉观察，但不能把个别评论外推为整体社区氛围。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6841043E-5AAB-4E63-8AF0-98C5F60A69A9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3143250" cy="1600200"/>
          </a:xfrm>
          <a:prstGeom prst="rect">
            <a:avLst/>
          </a:prstGeom>
          <a:solidFill>
            <a:srgbClr val="FFFDF8"/>
          </a:solidFill>
          <a:ln w="11430">
            <a:solidFill>
              <a:srgbClr val="C2452D"/>
            </a:solidFill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78760E65-1D31-4207-B477-FC4472409509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66675" cy="1600200"/>
          </a:xfrm>
          <a:prstGeom prst="rect">
            <a:avLst/>
          </a:prstGeom>
          <a:solidFill>
            <a:srgbClr val="C2452D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E828090A-66E2-4BC9-8ABB-9C4B9D55703F}"/>
              </a:ext>
            </a:extLst>
          </ns0:cNvPr>
          <ns0:cNvSpPr>
            <a:spLocks noGrp="1"/>
          </ns0:cNvSpPr>
          <ns0:nvPr/>
        </ns0:nvSpPr>
        <ns0:spPr>
          <a:xfrm>
            <a:off x="819150" y="302895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评论侧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19B6F558-AB7F-4477-B64D-81E2249DACB0}"/>
              </a:ext>
            </a:extLst>
          </ns0:cNvPr>
          <ns0:cNvSpPr>
            <a:spLocks noGrp="1"/>
          </ns0:cNvSpPr>
          <ns0:nvPr/>
        </ns0:nvSpPr>
        <ns0:spPr>
          <a:xfrm>
            <a:off x="819150" y="3409950"/>
            <a:ext cx="27241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社区氛围与治理命中 54 次，占小黑盒负向评论 15.98%。
注：按规则主题命中统计，一条评论可能命中多个主题。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173D64AC-FC53-4CC1-92E4-58C0DD8765A7}"/>
              </a:ext>
            </a:extLst>
          </ns0:cNvPr>
          <ns0:cNvSpPr>
            <a:spLocks noGrp="1"/>
          </ns0:cNvSpPr>
          <ns0:nvPr/>
        </ns0:nvSpPr>
        <ns0:spPr>
          <a:xfrm>
            <a:off x="4133850" y="2857500"/>
            <a:ext cx="3143250" cy="1600200"/>
          </a:xfrm>
          <a:prstGeom prst="rect">
            <a:avLst/>
          </a:prstGeom>
          <a:solidFill>
            <a:srgbClr val="FFFDF8"/>
          </a:solidFill>
          <a:ln w="11430">
            <a:solidFill>
              <a:srgbClr val="1A7A67"/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05229EC1-A698-4DAD-91C1-BE04FAF068EA}"/>
              </a:ext>
            </a:extLst>
          </ns0:cNvPr>
          <ns0:cNvSpPr>
            <a:spLocks noGrp="1"/>
          </ns0:cNvSpPr>
          <ns0:nvPr/>
        </ns0:nvSpPr>
        <ns0:spPr>
          <a:xfrm>
            <a:off x="4133850" y="2857500"/>
            <a:ext cx="66675" cy="1600200"/>
          </a:xfrm>
          <a:prstGeom prst="rect">
            <a:avLst/>
          </a:prstGeom>
          <a:solidFill>
            <a:srgbClr val="1A7A6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62BDC3C0-202D-41BD-AF17-D7EB13A48068}"/>
              </a:ext>
            </a:extLst>
          </ns0:cNvPr>
          <ns0:cNvSpPr>
            <a:spLocks noGrp="1"/>
          </ns0:cNvSpPr>
          <ns0:nvPr/>
        </ns0:nvSpPr>
        <ns0:spPr>
          <a:xfrm>
            <a:off x="4343400" y="302895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rPr>
              <a:t>关键词侧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15971882-F21D-4383-9B06-E012FC9E91B5}"/>
              </a:ext>
            </a:extLst>
          </ns0:cNvPr>
          <ns0:cNvSpPr>
            <a:spLocks noGrp="1"/>
          </ns0:cNvSpPr>
          <ns0:nvPr/>
        </ns0:nvSpPr>
        <ns0:spPr>
          <a:xfrm>
            <a:off x="4343400" y="3409950"/>
            <a:ext cx="27241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社区运营 / 互动关系含 15 个关键词，例如游戏社区、游戏论坛、玩家社区。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98382BED-A62D-4051-88ED-99D9ECB826F2}"/>
              </a:ext>
            </a:extLst>
          </ns0:cNvPr>
          <ns0:cNvSpPr>
            <a:spLocks noGrp="1"/>
          </ns0:cNvSpPr>
          <ns0:nvPr/>
        </ns0:nvSpPr>
        <ns0:spPr>
          <a:xfrm>
            <a:off x="7658100" y="2857500"/>
            <a:ext cx="3143250" cy="16002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5E8C"/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06E5A1F0-F315-47FF-A100-C2D6C2226731}"/>
              </a:ext>
            </a:extLst>
          </ns0:cNvPr>
          <ns0:cNvSpPr>
            <a:spLocks noGrp="1"/>
          </ns0:cNvSpPr>
          <ns0:nvPr/>
        </ns0:nvSpPr>
        <ns0:spPr>
          <a:xfrm>
            <a:off x="7658100" y="2857500"/>
            <a:ext cx="66675" cy="1600200"/>
          </a:xfrm>
          <a:prstGeom prst="rect">
            <a:avLst/>
          </a:prstGeom>
          <a:solidFill>
            <a:srgbClr val="2E5E8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BF55E52F-7454-44CC-824C-523008C01FD4}"/>
              </a:ext>
            </a:extLst>
          </ns0:cNvPr>
          <ns0:cNvSpPr>
            <a:spLocks noGrp="1"/>
          </ns0:cNvSpPr>
          <ns0:nvPr/>
        </ns0:nvSpPr>
        <ns0:spPr>
          <a:xfrm>
            <a:off x="7867650" y="302895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岗位贴合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6E6CF8CE-5B79-4926-8FEE-097F2F510B9D}"/>
              </a:ext>
            </a:extLst>
          </ns0:cNvPr>
          <ns0:cNvSpPr>
            <a:spLocks noGrp="1"/>
          </ns0:cNvSpPr>
          <ns0:nvPr/>
        </ns0:nvSpPr>
        <ns0:spPr>
          <a:xfrm>
            <a:off x="7867650" y="3409950"/>
            <a:ext cx="27241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适合承接社区规则、内容秩序、举报反馈、讨论氛围与优质内容激励等议题。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20860B23-31BF-48AD-AA2D-612278FB83E4}"/>
              </a:ext>
            </a:extLst>
          </ns0:cNvPr>
          <ns0:cNvSpPr>
            <a:spLocks noGrp="1"/>
          </ns0:cNvSpPr>
          <ns0:nvPr/>
        </ns0:nvSpPr>
        <ns0:spPr>
          <a:xfrm>
            <a:off x="609600" y="4972050"/>
            <a:ext cx="9906000" cy="533400"/>
          </a:xfrm>
          <a:prstGeom prst="rect">
            <a:avLst/>
          </a:prstGeom>
          <a:solidFill>
            <a:srgbClr val="15212B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95678F32-F97F-4B03-95B0-1C08751EB336}"/>
              </a:ext>
            </a:extLst>
          </ns0:cNvPr>
          <ns0:cNvSpPr>
            <a:spLocks noGrp="1"/>
          </ns0:cNvSpPr>
          <ns0:nvPr/>
        </ns0:nvSpPr>
        <ns0:spPr>
          <a:xfrm>
            <a:off x="876300" y="5095875"/>
            <a:ext cx="937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5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主线定位：A 游戏社区生态运营最相关；表达上标注为公开数据的中等强度观察链。</a:t>
            </a:r>
          </a:p>
        </ns0:txBody>
      </ns0:sp>
    </ns0:spTree>
    <ns0:extLst>
      <ns0:ext uri="{BB962C8B-B14F-4D97-AF65-F5344CB8AC3E}">
        <ns3:creationId val="1451899806"/>
      </ns0:ext>
    </ns0:extLst>
  </ns0:cSld>
</ns0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5CD36-3A91-4DC7-A328-714AC1D7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8E540-C425-46D9-9F15-341E181E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07697-139E-4029-86AB-DCBD5F15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245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9870B-17D0-4816-9265-843C86D4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41DA312-CE19-4774-96C2-F5E7F8E8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52D"/>
          </a:solidFill>
          <a:ln xmlns:a="http://schemas.openxmlformats.org/drawingml/2006/main" w="0">
            <a:solidFill>
              <a:srgbClr val="C2452D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306976-EF7B-4BA6-9B2C-245D780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AUXILIARY 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EBBE3-777A-4B64-92B7-E32A8340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工具服务与功能体验体现产品协同，不抢三条主线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0B1BF-98A4-4E3B-A07B-DFD6208F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工具类需求和体验问题共同提示：游戏社区 App 的运营触点不止内容浏览，还包括战绩、游戏库、Steam 绑定、加速器、存档、图鉴与稳定性体验。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5B397-A851-4D9D-B939-F47B78C1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245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9A294-6614-4AE1-A49D-F45108A7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101AD-2FFD-4675-ABA9-D8494A25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反馈侧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C8D0B-BCEA-4097-A824-CF44D91A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724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功能体验与产品设计 50 条；性能与稳定性 39 条；账号登录与绑定 33 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803B6-3C66-4673-84C2-F12B218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A7A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A8291-14B4-4F50-B67C-D2EA206F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2B16C-3790-469C-8191-C7728874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rPr>
              <a:t>需求侧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F2691-63EE-4677-A6A3-FBBE81A8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09950"/>
            <a:ext cx="2724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代表关键词包括游戏库、永劫无间战绩查询、王者荣耀战绩查询、月轮加速器。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4AD9B-1E74-4C2A-B4CA-E05BCE5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E5E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9E21B-E493-47F9-A1D7-9E0BA3E6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E6D07-3537-4072-8382-ABF52F2A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协同动作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72B74-EEFD-4E5F-B7CE-8AB31A7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09950"/>
            <a:ext cx="2724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把用户语言翻译成可复现路径、功能模块、优先级与产品 / 技术协同问题。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3F21C-DA6D-47BD-9606-65EBCC95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61B73-2E3E-4957-BF0C-8471C24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937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辅助主线价值：展示数据向运营和产品协同意识，但不写成产品能力强弱判断。</a:t>
            </a:r>
          </a:p>
        </p:txBody>
      </p:sp>
    </p:spTree>
    <p:extLst>
      <p:ext uri="{BB962C8B-B14F-4D97-AF65-F5344CB8AC3E}">
        <p14:creationId xmlns:p14="http://schemas.microsoft.com/office/powerpoint/2010/main" val="6876635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653D1F-FE4B-462C-84A4-F5AB1585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A1310-134A-4339-BBEF-15FE7DC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1404F-B94A-4430-AA02-5AB8F1DC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245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0AD9C-890D-446B-9B9C-53EBA3E7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496F6EA-F566-43E7-A22B-7A2F4CF5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52D"/>
          </a:solidFill>
          <a:ln xmlns:a="http://schemas.openxmlformats.org/drawingml/2006/main" w="0">
            <a:solidFill>
              <a:srgbClr val="C2452D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0404E8-3A02-4BAB-BD96-477D2433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BACKGROUND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1D424-E2BF-49E5-A9E5-A9EEBA3F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下载趋势与版本节奏只承担背景定位，不解释增长原因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61F68-3D3D-43D9-B197-5EB13659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CC0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72c225eae422f"/>
          <a:stretch xmlns:a="http://schemas.openxmlformats.org/drawingml/2006/main"/>
        </p:blipFill>
        <p:spPr>
          <a:xfrm xmlns:a="http://schemas.openxmlformats.org/drawingml/2006/main">
            <a:off x="781050" y="1875391"/>
            <a:ext cx="4419600" cy="202136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E16B7-8536-4FD6-9172-B4D40A09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七麦预估下载月份级波动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0A5EB-3A3A-483B-9B0F-AFE775E7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4762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C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cf51b6b4e46e3"/>
          <a:stretch xmlns:a="http://schemas.openxmlformats.org/drawingml/2006/main"/>
        </p:blipFill>
        <p:spPr>
          <a:xfrm xmlns:a="http://schemas.openxmlformats.org/drawingml/2006/main">
            <a:off x="6124575" y="2055303"/>
            <a:ext cx="4419600" cy="166154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B2773-6868-482C-991B-CE4C9DB1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433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公开版本月度更新节奏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ACE89-CA86-4C2C-B2B4-9580359F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E939B-0A75-4374-A02E-C862F9C4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902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下载趋势：七麦 iPhone 新增下载预估，仅作为结果波动背景。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85F47-A41E-4CDB-AD49-29E0763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FA91D-8F71-4DEC-B657-2C808951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02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版本节奏：公开版本日志仅作为动作背景，不代表完整产品战略。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34946-D679-48DE-8F71-AD90ABA6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92680-5355-4244-9555-D032BA6C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902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可用于标记后续排查窗口，例如小黑盒 2025-12、游民星空 2025-06 / 2025-07 / 2025-11。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26DA7-34D0-43B9-942A-D446F935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边界提醒：不对版本、活动、热门游戏与下载波动作因果判断</a:t>
            </a:r>
          </a:p>
        </p:txBody>
      </p:sp>
    </p:spTree>
    <p:extLst>
      <p:ext uri="{BB962C8B-B14F-4D97-AF65-F5344CB8AC3E}">
        <p14:creationId xmlns:p14="http://schemas.microsoft.com/office/powerpoint/2010/main" val="1746753836"/>
      </p:ext>
    </p:extLst>
  </p:cSld>
</p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9720A7F2-5A24-40D6-B32E-93DED1056D10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2E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208304A3-00C0-4C4F-A2DF-2BA47A9E283F}"/>
              </a:ext>
            </a:extLst>
          </ns0:cNvPr>
          <ns0:cNvSpPr>
            <a:spLocks noGrp="1"/>
          </ns0:cNvSpPr>
          <ns0:nvPr/>
        </ns0:nvSpPr>
        <ns0:spPr>
          <a:xfrm>
            <a:off x="609600" y="6057900"/>
            <a:ext cx="9906000" cy="9525"/>
          </a:xfrm>
          <a:prstGeom prst="rect">
            <a:avLst/>
          </a:prstGeom>
          <a:solidFill>
            <a:srgbClr val="D9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3FA75B0D-CB47-4DFA-AFC5-AAEE59B6D990}"/>
              </a:ext>
            </a:extLst>
          </ns0:cNvPr>
          <ns0:cNvSpPr>
            <a:spLocks noGrp="1"/>
          </ns0:cNvSpPr>
          <ns0:nvPr/>
        </ns0:nvSpPr>
        <ns0:spPr>
          <a:xfrm>
            <a:off x="10763250" y="5924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DFF1AF1C-EA55-47B6-B31E-D41FF5A6197C}"/>
              </a:ext>
            </a:extLst>
          </ns0:cNvPr>
          <ns0:cNvSpPr>
            <a:spLocks noGrp="1"/>
          </ns0:cNvSpPr>
          <ns0:nvPr/>
        </ns0:nvSpPr>
        <ns0:spPr>
          <a:xfrm>
            <a:off x="609600" y="5924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ns0:txBody>
      </ns0:sp>
      <ns0:sp>
        <ns0:nvSpPr>
          <ns0:cNvPr id="5" name="kicker-marker">
            <a:extLst>
              <a:ext uri="{FF2B5EF4-FFF2-40B4-BE49-F238E27FC236}">
                <ns2:creationId id="{857A3266-27D8-4DAA-92B8-7471215F6857}"/>
              </a:ext>
            </a:extLst>
          </ns0:cNvPr>
          <ns0:cNvSpPr>
            <a:spLocks noGrp="1"/>
          </ns0:cNvSpPr>
          <ns0:nvPr/>
        </ns0:nvSpPr>
        <ns0:spPr>
          <a:xfrm>
            <a:off x="609600" y="438150"/>
            <a:ext cx="85725" cy="85725"/>
          </a:xfrm>
          <a:prstGeom prst="rect">
            <a:avLst/>
          </a:prstGeom>
          <a:solidFill>
            <a:srgbClr val="C2452D"/>
          </a:solidFill>
          <a:ln w="0">
            <a:solidFill>
              <a:srgbClr val="C2452D"/>
            </a:solidFill>
            <a:prstDash val="solid"/>
          </a:ln>
        </ns0:spPr>
      </ns0:sp>
      <ns0:sp>
        <ns0:nvSpPr>
          <ns0:cNvPr id="6" name="kicker-label">
            <a:extLst>
              <a:ext uri="{FF2B5EF4-FFF2-40B4-BE49-F238E27FC236}">
                <ns2:creationId id="{8BC5AE0D-470F-48FF-BDE7-D2D275FB7801}"/>
              </a:ext>
            </a:extLst>
          </ns0:cNvPr>
          <ns0:cNvSpPr>
            <a:spLocks noGrp="1"/>
          </ns0:cNvSpPr>
          <ns0:nvPr/>
        </ns0:nvSpPr>
        <ns0:spPr>
          <a:xfrm>
            <a:off x="781050" y="3524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OPERATING STRATEGY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23377550-7FFC-4A64-9F7D-C432AC184A89}"/>
              </a:ext>
            </a:extLst>
          </ns0:cNvPr>
          <ns0:cNvSpPr>
            <a:spLocks noGrp="1"/>
          </ns0:cNvSpPr>
          <ns0:nvPr/>
        </ns0:nvSpPr>
        <ns0:spPr>
          <a:xfrm>
            <a:off x="609600" y="742950"/>
            <a:ext cx="876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策略沉淀为四类运营动作，不评价动作成效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E30AEC40-00DF-43DF-BF8A-5DF4051723AE}"/>
              </a:ext>
            </a:extLst>
          </ns0:cNvPr>
          <ns0:cNvSpPr>
            <a:spLocks noGrp="1"/>
          </ns0:cNvSpPr>
          <ns0:nvPr/>
        </ns0:nvSpPr>
        <ns0:spPr>
          <a:xfrm>
            <a:off x="609600" y="1828800"/>
            <a:ext cx="4762500" cy="1352550"/>
          </a:xfrm>
          <a:prstGeom prst="rect">
            <a:avLst/>
          </a:prstGeom>
          <a:solidFill>
            <a:srgbClr val="FFFDF8"/>
          </a:solidFill>
          <a:ln w="11430">
            <a:solidFill>
              <a:srgbClr val="C2452D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0D1CC658-B438-4869-AE5C-334088271242}"/>
              </a:ext>
            </a:extLst>
          </ns0:cNvPr>
          <ns0:cNvSpPr>
            <a:spLocks noGrp="1"/>
          </ns0:cNvSpPr>
          <ns0:nvPr/>
        </ns0:nvSpPr>
        <ns0:spPr>
          <a:xfrm>
            <a:off x="609600" y="1828800"/>
            <a:ext cx="66675" cy="1352550"/>
          </a:xfrm>
          <a:prstGeom prst="rect">
            <a:avLst/>
          </a:prstGeom>
          <a:solidFill>
            <a:srgbClr val="C2452D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B84C0F2A-3F2D-4CC8-A190-0843EB559097}"/>
              </a:ext>
            </a:extLst>
          </ns0:cNvPr>
          <ns0:cNvSpPr>
            <a:spLocks noGrp="1"/>
          </ns0:cNvSpPr>
          <ns0:nvPr/>
        </ns0:nvSpPr>
        <ns0:spPr>
          <a:xfrm>
            <a:off x="819150" y="2000250"/>
            <a:ext cx="434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用户反馈闭环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D5D6BC0-8E9A-4EE8-86BD-FB01E2B0FFE4}"/>
              </a:ext>
            </a:extLst>
          </ns0:cNvPr>
          <ns0:cNvSpPr>
            <a:spLocks noGrp="1"/>
          </ns0:cNvSpPr>
          <ns0:nvPr/>
        </ns0:nvSpPr>
        <ns0:spPr>
          <a:xfrm>
            <a:off x="819150" y="2381250"/>
            <a:ext cx="43434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标签化问题池；分层处理；客服话术；FAQ 与帮助入口沉淀。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D3DEE1F-FCF0-47A8-B379-D487E26BEBF2}"/>
              </a:ext>
            </a:extLst>
          </ns0:cNvPr>
          <ns0:cNvSpPr>
            <a:spLocks noGrp="1"/>
          </ns0:cNvSpPr>
          <ns0:nvPr/>
        </ns0:nvSpPr>
        <ns0:spPr>
          <a:xfrm>
            <a:off x="5953125" y="1828800"/>
            <a:ext cx="4762500" cy="1352550"/>
          </a:xfrm>
          <a:prstGeom prst="rect">
            <a:avLst/>
          </a:prstGeom>
          <a:solidFill>
            <a:srgbClr val="FFFDF8"/>
          </a:solidFill>
          <a:ln w="11430">
            <a:solidFill>
              <a:srgbClr val="1A7A67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0ABB5F55-CFD8-4A5F-B57B-3EA7AE779C70}"/>
              </a:ext>
            </a:extLst>
          </ns0:cNvPr>
          <ns0:cNvSpPr>
            <a:spLocks noGrp="1"/>
          </ns0:cNvSpPr>
          <ns0:nvPr/>
        </ns0:nvSpPr>
        <ns0:spPr>
          <a:xfrm>
            <a:off x="5953125" y="1828800"/>
            <a:ext cx="66675" cy="1352550"/>
          </a:xfrm>
          <a:prstGeom prst="rect">
            <a:avLst/>
          </a:prstGeom>
          <a:solidFill>
            <a:srgbClr val="1A7A6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A34F6910-ADBD-435D-BC75-9DBE5A9CC8B3}"/>
              </a:ext>
            </a:extLst>
          </ns0:cNvPr>
          <ns0:cNvSpPr>
            <a:spLocks noGrp="1"/>
          </ns0:cNvSpPr>
          <ns0:nvPr/>
        </ns0:nvSpPr>
        <ns0:spPr>
          <a:xfrm>
            <a:off x="6162675" y="2000250"/>
            <a:ext cx="434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A7A67"/>
                </a:solidFill>
                <a:latin typeface="Microsoft YaHei"/>
                <a:ea typeface="Microsoft YaHei"/>
                <a:cs typeface="Microsoft YaHei"/>
              </a:rPr>
              <a:t>内容供给组织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D444E006-584D-4DB4-9FDF-C60365E1F5DB}"/>
              </a:ext>
            </a:extLst>
          </ns0:cNvPr>
          <ns0:cNvSpPr>
            <a:spLocks noGrp="1"/>
          </ns0:cNvSpPr>
          <ns0:nvPr/>
        </ns0:nvSpPr>
        <ns0:spPr>
          <a:xfrm>
            <a:off x="6162675" y="2381250"/>
            <a:ext cx="43434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热点游戏选题池；攻略 / 资讯 / 评测内容；社区话题承接。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85629A82-E59C-4BAA-AA68-72F1825006F4}"/>
              </a:ext>
            </a:extLst>
          </ns0:cNvPr>
          <ns0:cNvSpPr>
            <a:spLocks noGrp="1"/>
          </ns0:cNvSpPr>
          <ns0:nvPr/>
        </ns0:nvSpPr>
        <ns0:spPr>
          <a:xfrm>
            <a:off x="609600" y="3733800"/>
            <a:ext cx="4762500" cy="13525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5E8C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6A21F652-E6BE-4645-9F97-C0E6B21229E4}"/>
              </a:ext>
            </a:extLst>
          </ns0:cNvPr>
          <ns0:cNvSpPr>
            <a:spLocks noGrp="1"/>
          </ns0:cNvSpPr>
          <ns0:nvPr/>
        </ns0:nvSpPr>
        <ns0:spPr>
          <a:xfrm>
            <a:off x="609600" y="3733800"/>
            <a:ext cx="66675" cy="1352550"/>
          </a:xfrm>
          <a:prstGeom prst="rect">
            <a:avLst/>
          </a:prstGeom>
          <a:solidFill>
            <a:srgbClr val="2E5E8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2A9C0706-60AD-40B7-8BBE-9BB1C2DAD7A9}"/>
              </a:ext>
            </a:extLst>
          </ns0:cNvPr>
          <ns0:cNvSpPr>
            <a:spLocks noGrp="1"/>
          </ns0:cNvSpPr>
          <ns0:nvPr/>
        </ns0:nvSpPr>
        <ns0:spPr>
          <a:xfrm>
            <a:off x="819150" y="3905250"/>
            <a:ext cx="434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社区治理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4731C471-C5E9-4EB4-A3B1-2BB21CE3BE01}"/>
              </a:ext>
            </a:extLst>
          </ns0:cNvPr>
          <ns0:cNvSpPr>
            <a:spLocks noGrp="1"/>
          </ns0:cNvSpPr>
          <ns0:nvPr/>
        </ns0:nvSpPr>
        <ns0:spPr>
          <a:xfrm>
            <a:off x="819150" y="4286250"/>
            <a:ext cx="43434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举报与审核触点；规则 FAQ；争议话题观察；优质内容激励。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27B7D296-2273-4208-8305-0C39EF963E41}"/>
              </a:ext>
            </a:extLst>
          </ns0:cNvPr>
          <ns0:cNvSpPr>
            <a:spLocks noGrp="1"/>
          </ns0:cNvSpPr>
          <ns0:nvPr/>
        </ns0:nvSpPr>
        <ns0:spPr>
          <a:xfrm>
            <a:off x="5953125" y="3733800"/>
            <a:ext cx="4762500" cy="1352550"/>
          </a:xfrm>
          <a:prstGeom prst="rect">
            <a:avLst/>
          </a:prstGeom>
          <a:solidFill>
            <a:srgbClr val="FFFDF8"/>
          </a:solidFill>
          <a:ln w="11430">
            <a:solidFill>
              <a:srgbClr val="B88413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C5F3FA72-3F72-469B-928B-14B1121062A1}"/>
              </a:ext>
            </a:extLst>
          </ns0:cNvPr>
          <ns0:cNvSpPr>
            <a:spLocks noGrp="1"/>
          </ns0:cNvSpPr>
          <ns0:nvPr/>
        </ns0:nvSpPr>
        <ns0:spPr>
          <a:xfrm>
            <a:off x="5953125" y="3733800"/>
            <a:ext cx="66675" cy="1352550"/>
          </a:xfrm>
          <a:prstGeom prst="rect">
            <a:avLst/>
          </a:prstGeom>
          <a:solidFill>
            <a:srgbClr val="B8841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624EA066-2B9C-4C12-ABE9-A73C10437B1B}"/>
              </a:ext>
            </a:extLst>
          </ns0:cNvPr>
          <ns0:cNvSpPr>
            <a:spLocks noGrp="1"/>
          </ns0:cNvSpPr>
          <ns0:nvPr/>
        </ns0:nvSpPr>
        <ns0:spPr>
          <a:xfrm>
            <a:off x="6162675" y="3905250"/>
            <a:ext cx="434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B88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8413"/>
                </a:solidFill>
                <a:latin typeface="Microsoft YaHei"/>
                <a:ea typeface="Microsoft YaHei"/>
                <a:cs typeface="Microsoft YaHei"/>
              </a:rPr>
              <a:t>工具体验协同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DEFAB7F6-901A-48F3-8A18-87C82197C1B4}"/>
              </a:ext>
            </a:extLst>
          </ns0:cNvPr>
          <ns0:cNvSpPr>
            <a:spLocks noGrp="1"/>
          </ns0:cNvSpPr>
          <ns0:nvPr/>
        </ns0:nvSpPr>
        <ns0:spPr>
          <a:xfrm>
            <a:off x="6162675" y="4286250"/>
            <a:ext cx="43434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登录绑定、战绩、游戏库、加速器、稳定性等问题的复现路径整理。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09B5C5E7-F945-4CFB-AC44-73238CEC8CE2}"/>
              </a:ext>
            </a:extLst>
          </ns0:cNvPr>
          <ns0:cNvSpPr>
            <a:spLocks noGrp="1"/>
          </ns0:cNvSpPr>
          <ns0:nvPr/>
        </ns0:nvSpPr>
        <ns0:spPr>
          <a:xfrm>
            <a:off x="609600" y="54673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策略来源于公开数据观察，后续仍需站内行为、客服工单、内容消费、留存转化等内部数据复核。</a:t>
            </a:r>
          </a:p>
        </ns0:txBody>
      </ns0:sp>
    </ns0:spTree>
    <ns0:extLst>
      <ns0:ext uri="{BB962C8B-B14F-4D97-AF65-F5344CB8AC3E}">
        <ns3:creationId val="1950819944"/>
      </ns0:ext>
    </ns0:extLst>
  </ns0:cSld>
</ns0:sld>
</file>

<file path=ppt/slides/slide1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5E4D03AE-693C-4533-9B84-165D59CE389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2E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F6330343-223A-424B-8A7E-FCBD106A219B}"/>
              </a:ext>
            </a:extLst>
          </ns0:cNvPr>
          <ns0:cNvSpPr>
            <a:spLocks noGrp="1"/>
          </ns0:cNvSpPr>
          <ns0:nvPr/>
        </ns0:nvSpPr>
        <ns0:spPr>
          <a:xfrm>
            <a:off x="609600" y="6057900"/>
            <a:ext cx="9906000" cy="9525"/>
          </a:xfrm>
          <a:prstGeom prst="rect">
            <a:avLst/>
          </a:prstGeom>
          <a:solidFill>
            <a:srgbClr val="D9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740201CB-4D95-4693-84AE-5B479DF0C443}"/>
              </a:ext>
            </a:extLst>
          </ns0:cNvPr>
          <ns0:cNvSpPr>
            <a:spLocks noGrp="1"/>
          </ns0:cNvSpPr>
          <ns0:nvPr/>
        </ns0:nvSpPr>
        <ns0:spPr>
          <a:xfrm>
            <a:off x="10763250" y="5924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4664737F-FCED-447D-818B-5BC52D15BAB2}"/>
              </a:ext>
            </a:extLst>
          </ns0:cNvPr>
          <ns0:cNvSpPr>
            <a:spLocks noGrp="1"/>
          </ns0:cNvSpPr>
          <ns0:nvPr/>
        </ns0:nvSpPr>
        <ns0:spPr>
          <a:xfrm>
            <a:off x="609600" y="5924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游戏社区 App 运营分析展示版</a:t>
            </a:r>
          </a:p>
        </ns0:txBody>
      </ns0:sp>
      <ns0:sp>
        <ns0:nvSpPr>
          <ns0:cNvPr id="5" name="kicker-marker">
            <a:extLst>
              <a:ext uri="{FF2B5EF4-FFF2-40B4-BE49-F238E27FC236}">
                <ns2:creationId id="{E3D3BD67-6114-46E4-8C4E-7C5D7FFE2222}"/>
              </a:ext>
            </a:extLst>
          </ns0:cNvPr>
          <ns0:cNvSpPr>
            <a:spLocks noGrp="1"/>
          </ns0:cNvSpPr>
          <ns0:nvPr/>
        </ns0:nvSpPr>
        <ns0:spPr>
          <a:xfrm>
            <a:off x="609600" y="438150"/>
            <a:ext cx="85725" cy="85725"/>
          </a:xfrm>
          <a:prstGeom prst="rect">
            <a:avLst/>
          </a:prstGeom>
          <a:solidFill>
            <a:srgbClr val="C2452D"/>
          </a:solidFill>
          <a:ln w="0">
            <a:solidFill>
              <a:srgbClr val="C2452D"/>
            </a:solidFill>
            <a:prstDash val="solid"/>
          </a:ln>
        </ns0:spPr>
      </ns0:sp>
      <ns0:sp>
        <ns0:nvSpPr>
          <ns0:cNvPr id="6" name="kicker-label">
            <a:extLst>
              <a:ext uri="{FF2B5EF4-FFF2-40B4-BE49-F238E27FC236}">
                <ns2:creationId id="{93865E1B-8D1B-4906-9114-A5BF8429F59E}"/>
              </a:ext>
            </a:extLst>
          </ns0:cNvPr>
          <ns0:cNvSpPr>
            <a:spLocks noGrp="1"/>
          </ns0:cNvSpPr>
          <ns0:nvPr/>
        </ns0:nvSpPr>
        <ns0:spPr>
          <a:xfrm>
            <a:off x="781050" y="3524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ctr"/>
          <a:lstStyle/>
          <a:p>
            <a:pPr algn="l">
              <a:def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52D"/>
                </a:solidFill>
                <a:latin typeface="Microsoft YaHei"/>
                <a:ea typeface="Microsoft YaHei"/>
                <a:cs typeface="Microsoft YaHei"/>
              </a:rPr>
              <a:t>ROLE MAPPING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D4FD5F0-FF3F-4E94-AC60-FAEB7D92B2CF}"/>
              </a:ext>
            </a:extLst>
          </ns0:cNvPr>
          <ns0:cNvSpPr>
            <a:spLocks noGrp="1"/>
          </ns0:cNvSpPr>
          <ns0:nvPr/>
        </ns0:nvSpPr>
        <ns0:spPr>
          <a:xfrm>
            <a:off x="609600" y="742950"/>
            <a:ext cx="876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岗位能力映射来自项目产出，不写成个人自夸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79F63D5-254C-4282-AB4C-E7831E49425F}"/>
              </a:ext>
            </a:extLst>
          </ns0:cNvPr>
          <ns0:cNvSpPr>
            <a:spLocks noGrp="1"/>
          </ns0:cNvSpPr>
          <ns0:nvPr/>
        </ns0:nvSpPr>
        <ns0:spPr>
          <a:xfrm>
            <a:off x="800100" y="1676400"/>
            <a:ext cx="9429750" cy="400050"/>
          </a:xfrm>
          <a:prstGeom prst="rect">
            <a:avLst/>
          </a:prstGeom>
          <a:solidFill>
            <a:srgbClr val="15212B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97684B63-288E-429D-873E-A83BCE578860}"/>
              </a:ext>
            </a:extLst>
          </ns0:cNvPr>
          <ns0:cNvSpPr>
            <a:spLocks noGrp="1"/>
          </ns0:cNvSpPr>
          <ns0:nvPr/>
        </ns0:nvSpPr>
        <ns0:spPr>
          <a:xfrm>
            <a:off x="971550" y="177165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项目产出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9CF66249-FF93-4BA7-B01B-9ED9CE711BA1}"/>
              </a:ext>
            </a:extLst>
          </ns0:cNvPr>
          <ns0:cNvSpPr>
            <a:spLocks noGrp="1"/>
          </ns0:cNvSpPr>
          <ns0:nvPr/>
        </ns0:nvSpPr>
        <ns0:spPr>
          <a:xfrm>
            <a:off x="5067300" y="1771650"/>
            <a:ext cx="499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可映射的岗位能力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CFBAF375-56DC-4DF3-8BD9-4BA248EE8DB5}"/>
              </a:ext>
            </a:extLst>
          </ns0:cNvPr>
          <ns0:cNvSpPr>
            <a:spLocks noGrp="1"/>
          </ns0:cNvSpPr>
          <ns0:nvPr/>
        </ns0:nvSpPr>
        <ns0:spPr>
          <a:xfrm>
            <a:off x="800100" y="2076450"/>
            <a:ext cx="9429750" cy="590550"/>
          </a:xfrm>
          <a:prstGeom prst="rect">
            <a:avLst/>
          </a:prstGeom>
          <a:solidFill>
            <a:srgbClr val="F1E9DD"/>
          </a:solidFill>
          <a:ln w="9525">
            <a:solidFill>
              <a:srgbClr val="D7CCC0"/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5B3D9B52-A055-4BC6-B57B-C0784CBE28CB}"/>
              </a:ext>
            </a:extLst>
          </ns0:cNvPr>
          <ns0:cNvSpPr>
            <a:spLocks noGrp="1"/>
          </ns0:cNvSpPr>
          <ns0:nvPr/>
        </ns0:nvSpPr>
        <ns0:spPr>
          <a:xfrm>
            <a:off x="971550" y="2238375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评论问题标签与反馈分层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247A90BE-07E9-4E0A-A876-81946FD70A8A}"/>
              </a:ext>
            </a:extLst>
          </ns0:cNvPr>
          <ns0:cNvSpPr>
            <a:spLocks noGrp="1"/>
          </ns0:cNvSpPr>
          <ns0:nvPr/>
        </ns0:nvSpPr>
        <ns0:spPr>
          <a:xfrm>
            <a:off x="5067300" y="2238375"/>
            <a:ext cx="499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用户反馈整理 / 客服协同 / 问题优先级判断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BAD5F822-7B83-4463-A1E7-4CA4D87F7FDC}"/>
              </a:ext>
            </a:extLst>
          </ns0:cNvPr>
          <ns0:cNvSpPr>
            <a:spLocks noGrp="1"/>
          </ns0:cNvSpPr>
          <ns0:nvPr/>
        </ns0:nvSpPr>
        <ns0:spPr>
          <a:xfrm>
            <a:off x="800100" y="2667000"/>
            <a:ext cx="9429750" cy="590550"/>
          </a:xfrm>
          <a:prstGeom prst="rect">
            <a:avLst/>
          </a:prstGeom>
          <a:solidFill>
            <a:srgbClr val="FFFDF8"/>
          </a:solidFill>
          <a:ln w="9525">
            <a:solidFill>
              <a:srgbClr val="D7CCC0"/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183CDE82-A8E7-4A13-9C49-F0F75FB2215F}"/>
              </a:ext>
            </a:extLst>
          </ns0:cNvPr>
          <ns0:cNvSpPr>
            <a:spLocks noGrp="1"/>
          </ns0:cNvSpPr>
          <ns0:nvPr/>
        </ns0:nvSpPr>
        <ns0:spPr>
          <a:xfrm>
            <a:off x="971550" y="2828925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关键词到运营场景矩阵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30E958EC-226B-4C6D-90C1-1421726E07A1}"/>
              </a:ext>
            </a:extLst>
          </ns0:cNvPr>
          <ns0:cNvSpPr>
            <a:spLocks noGrp="1"/>
          </ns0:cNvSpPr>
          <ns0:nvPr/>
        </ns0:nvSpPr>
        <ns0:spPr>
          <a:xfrm>
            <a:off x="5067300" y="2828925"/>
            <a:ext cx="499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内容选题 / 热点追踪 / 社区话题运营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37909DAC-61D5-4094-9867-DA7ED78F85E9}"/>
              </a:ext>
            </a:extLst>
          </ns0:cNvPr>
          <ns0:cNvSpPr>
            <a:spLocks noGrp="1"/>
          </ns0:cNvSpPr>
          <ns0:nvPr/>
        </ns0:nvSpPr>
        <ns0:spPr>
          <a:xfrm>
            <a:off x="800100" y="3257550"/>
            <a:ext cx="9429750" cy="590550"/>
          </a:xfrm>
          <a:prstGeom prst="rect">
            <a:avLst/>
          </a:prstGeom>
          <a:solidFill>
            <a:srgbClr val="F1E9DD"/>
          </a:solidFill>
          <a:ln w="9525">
            <a:solidFill>
              <a:srgbClr val="D7CCC0"/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889D2881-D390-4538-A3F8-B2751A71F9EB}"/>
              </a:ext>
            </a:extLst>
          </ns0:cNvPr>
          <ns0:cNvSpPr>
            <a:spLocks noGrp="1"/>
          </ns0:cNvSpPr>
          <ns0:nvPr/>
        </ns0:nvSpPr>
        <ns0:spPr>
          <a:xfrm>
            <a:off x="971550" y="3419475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社区治理观察链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AA558A58-1FE8-4BFA-9BC0-DB22F68BB228}"/>
              </a:ext>
            </a:extLst>
          </ns0:cNvPr>
          <ns0:cNvSpPr>
            <a:spLocks noGrp="1"/>
          </ns0:cNvSpPr>
          <ns0:nvPr/>
        </ns0:nvSpPr>
        <ns0:spPr>
          <a:xfrm>
            <a:off x="5067300" y="3419475"/>
            <a:ext cx="499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社区规则意识 / 内容秩序 / 举报反馈机制理解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B8376FF6-D983-436E-A064-A87D636DC05E}"/>
              </a:ext>
            </a:extLst>
          </ns0:cNvPr>
          <ns0:cNvSpPr>
            <a:spLocks noGrp="1"/>
          </ns0:cNvSpPr>
          <ns0:nvPr/>
        </ns0:nvSpPr>
        <ns0:spPr>
          <a:xfrm>
            <a:off x="800100" y="3848100"/>
            <a:ext cx="9429750" cy="590550"/>
          </a:xfrm>
          <a:prstGeom prst="rect">
            <a:avLst/>
          </a:prstGeom>
          <a:solidFill>
            <a:srgbClr val="FFFDF8"/>
          </a:solidFill>
          <a:ln w="9525">
            <a:solidFill>
              <a:srgbClr val="D7CCC0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7F3522A9-6EA5-4F1D-B1FC-BE635B047481}"/>
              </a:ext>
            </a:extLst>
          </ns0:cNvPr>
          <ns0:cNvSpPr>
            <a:spLocks noGrp="1"/>
          </ns0:cNvSpPr>
          <ns0:nvPr/>
        </ns0:nvSpPr>
        <ns0:spPr>
          <a:xfrm>
            <a:off x="971550" y="4010025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工具体验辅助主线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EA33A122-29ED-4D19-80BF-EB9D1713E755}"/>
              </a:ext>
            </a:extLst>
          </ns0:cNvPr>
          <ns0:cNvSpPr>
            <a:spLocks noGrp="1"/>
          </ns0:cNvSpPr>
          <ns0:nvPr/>
        </ns0:nvSpPr>
        <ns0:spPr>
          <a:xfrm>
            <a:off x="5067300" y="4010025"/>
            <a:ext cx="499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产品协同 / 用户语言转译 / 复现路径整理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5692A51A-1798-415B-8327-AD46B726BED8}"/>
              </a:ext>
            </a:extLst>
          </ns0:cNvPr>
          <ns0:cNvSpPr>
            <a:spLocks noGrp="1"/>
          </ns0:cNvSpPr>
          <ns0:nvPr/>
        </ns0:nvSpPr>
        <ns0:spPr>
          <a:xfrm>
            <a:off x="800100" y="4438650"/>
            <a:ext cx="9429750" cy="590550"/>
          </a:xfrm>
          <a:prstGeom prst="rect">
            <a:avLst/>
          </a:prstGeom>
          <a:solidFill>
            <a:srgbClr val="F1E9DD"/>
          </a:solidFill>
          <a:ln w="9525">
            <a:solidFill>
              <a:srgbClr val="D7CCC0"/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6ABDC344-C5E9-4ACA-BCF3-5D18A56641D3}"/>
              </a:ext>
            </a:extLst>
          </ns0:cNvPr>
          <ns0:cNvSpPr>
            <a:spLocks noGrp="1"/>
          </ns0:cNvSpPr>
          <ns0:nvPr/>
        </ns0:nvSpPr>
        <ns0:spPr>
          <a:xfrm>
            <a:off x="971550" y="4600575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下载与版本边界处理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F466E336-0655-4DA6-82EC-08AB6E0C71C0}"/>
              </a:ext>
            </a:extLst>
          </ns0:cNvPr>
          <ns0:cNvSpPr>
            <a:spLocks noGrp="1"/>
          </ns0:cNvSpPr>
          <ns0:nvPr/>
        </ns0:nvSpPr>
        <ns0:spPr>
          <a:xfrm>
            <a:off x="5067300" y="4600575"/>
            <a:ext cx="499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公开数据复盘表达 / 不足证据下控制结论边界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51E0E4E5-213A-44E3-8CE6-96C6D5EEB72D}"/>
              </a:ext>
            </a:extLst>
          </ns0:cNvPr>
          <ns0:cNvSpPr>
            <a:spLocks noGrp="1"/>
          </ns0:cNvSpPr>
          <ns0:nvPr/>
        </ns0:nvSpPr>
        <ns0:spPr>
          <a:xfrm>
            <a:off x="800100" y="5334000"/>
            <a:ext cx="9429750" cy="419100"/>
          </a:xfrm>
          <a:prstGeom prst="rect">
            <a:avLst/>
          </a:prstGeom>
          <a:solidFill>
            <a:srgbClr val="E9F1F7"/>
          </a:solidFill>
          <a:ln w="9525">
            <a:solidFill>
              <a:srgbClr val="2E5E8C"/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04D3EEAD-6899-4A16-AAAF-D8858126B3F0}"/>
              </a:ext>
            </a:extLst>
          </ns0:cNvPr>
          <ns0:cNvSpPr>
            <a:spLocks noGrp="1"/>
          </ns0:cNvSpPr>
          <ns0:nvPr/>
        </ns0:nvSpPr>
        <ns0:spPr>
          <a:xfrm>
            <a:off x="990600" y="5438775"/>
            <a:ext cx="904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项目产出可对应：A 游戏社区生态运营为主，B 游戏行业运营为辅，C 数据向产品运营作为延展。</a:t>
            </a:r>
          </a:p>
        </ns0:txBody>
      </ns0:sp>
    </ns0:spTree>
    <ns0:extLst>
      <ns0:ext uri="{BB962C8B-B14F-4D97-AF65-F5344CB8AC3E}">
        <ns3:creationId val="549186169"/>
      </ns0:ext>
    </ns0:extLst>
  </ns0:cSld>
</ns0:sld>
</file>

<file path=ppt/slides/slide1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B002E593-D4BE-4DB3-801A-FFBD2924F89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15212B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83A996A2-1B98-4B37-862A-EF2F44D1EFDA}"/>
              </a:ext>
            </a:extLst>
          </ns0:cNvPr>
          <ns0:cNvSpPr>
            <a:spLocks noGrp="1"/>
          </ns0:cNvSpPr>
          <ns0:nvPr/>
        </ns0:nvSpPr>
        <ns0:spPr>
          <a:xfrm>
            <a:off x="685800" y="6096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5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A6864B17-48C1-492F-8C80-07090FDA0F58}"/>
              </a:ext>
            </a:extLst>
          </ns0:cNvPr>
          <ns0:cNvSpPr>
            <a:spLocks noGrp="1"/>
          </ns0:cNvSpPr>
          <ns0:nvPr/>
        </ns0:nvSpPr>
        <ns0:spPr>
          <a:xfrm>
            <a:off x="685800" y="148590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3000" b="1">
                <a:solidFill>
                  <a:srgbClr val="FFFDF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FFFDF8"/>
                </a:solidFill>
                <a:latin typeface="Microsoft YaHei UI"/>
                <a:ea typeface="Microsoft YaHei UI"/>
                <a:cs typeface="Microsoft YaHei UI"/>
              </a:rPr>
              <a:t>一句话总结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EE02B2FC-5A39-4DBA-967D-55012CC42A5B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8477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100" b="1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本项目用四类公开数据把游戏社区 App 的用户反馈、内容需求、社区治理和工具体验拆成可讨论的运营问题，但始终不把观察链写成因果结论。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F738F66B-56AC-4994-B04C-313853DD1F6F}"/>
              </a:ext>
            </a:extLst>
          </ns0:cNvPr>
          <ns0:cNvSpPr>
            <a:spLocks noGrp="1"/>
          </ns0:cNvSpPr>
          <ns0:nvPr/>
        </ns0:nvSpPr>
        <ns0:spPr>
          <a:xfrm>
            <a:off x="685800" y="4095750"/>
            <a:ext cx="7239000" cy="9525"/>
          </a:xfrm>
          <a:prstGeom prst="rect">
            <a:avLst/>
          </a:prstGeom>
          <a:solidFill>
            <a:srgbClr val="6F7B8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1F0E605F-8F27-4EF8-A84E-7D2F82CF7579}"/>
              </a:ext>
            </a:extLst>
          </ns0:cNvPr>
          <ns0:cNvSpPr>
            <a:spLocks noGrp="1"/>
          </ns0:cNvSpPr>
          <ns0:nvPr/>
        </ns0:nvSpPr>
        <ns0:spPr>
          <a:xfrm>
            <a:off x="685800" y="461010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55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C35B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550EAFA1-1A59-4934-993A-80984C570D33}"/>
              </a:ext>
            </a:extLst>
          </ns0:cNvPr>
          <ns0:cNvSpPr>
            <a:spLocks noGrp="1"/>
          </ns0:cNvSpPr>
          <ns0:nvPr/>
        </ns0:nvSpPr>
        <ns0:spPr>
          <a:xfrm>
            <a:off x="685800" y="561975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C9D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3D8"/>
                </a:solidFill>
                <a:latin typeface="Microsoft YaHei"/>
                <a:ea typeface="Microsoft YaHei"/>
                <a:cs typeface="Microsoft YaHei"/>
              </a:rPr>
              <a:t>公开数据观察链 | 面试展示 / 投递补充</a:t>
            </a:r>
          </a:p>
        </ns0:txBody>
      </ns0:sp>
    </ns0:spTree>
    <ns0:extLst>
      <ns0:ext uri="{BB962C8B-B14F-4D97-AF65-F5344CB8AC3E}">
        <ns3:creationId val="1135472430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2026-05-05T13:52:07.8380000Z</dcterms:created>
  <dcterms:modified xsi:type="dcterms:W3CDTF">2026-05-05T13:52:07.8380000Z</dcterms:modified>
</coreProperties>
</file>